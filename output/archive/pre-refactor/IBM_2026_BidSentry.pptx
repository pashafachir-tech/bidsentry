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8d42505362473a" /><Relationship Type="http://schemas.openxmlformats.org/officeDocument/2006/relationships/extended-properties" Target="/docProps/app.xml" Id="R0b93323cc108496c" /><Relationship Type="http://schemas.openxmlformats.org/officeDocument/2006/relationships/officeDocument" Target="/ppt/presentation.xml" Id="Rbcaa7d065b85427a" /></Relationships>
</file>

<file path=ppt/presentation.xml><?xml version="1.0" encoding="utf-8"?>
<p:presentation xmlns:p="http://schemas.openxmlformats.org/presentationml/2006/main">
  <p:sldMasterIdLst>
    <p:sldMasterId xmlns:r="http://schemas.openxmlformats.org/officeDocument/2006/relationships" id="2147483648" r:id="Rdea2fde834234a19"/>
  </p:sldMasterIdLst>
  <p:notesMasterIdLst>
    <p:notesMasterId xmlns:r="http://schemas.openxmlformats.org/officeDocument/2006/relationships" r:id="Rf2462d9bfda34b6e"/>
  </p:notesMasterIdLst>
  <p:sldIdLst>
    <p:sldId xmlns:r="http://schemas.openxmlformats.org/officeDocument/2006/relationships" id="256" r:id="R2688cc6d5d744931"/>
    <p:sldId xmlns:r="http://schemas.openxmlformats.org/officeDocument/2006/relationships" id="257" r:id="R698eca169d6e408c"/>
    <p:sldId xmlns:r="http://schemas.openxmlformats.org/officeDocument/2006/relationships" id="258" r:id="R117e92d6a24246dc"/>
    <p:sldId xmlns:r="http://schemas.openxmlformats.org/officeDocument/2006/relationships" id="259" r:id="R8d6e8cda8ae84e7f"/>
    <p:sldId xmlns:r="http://schemas.openxmlformats.org/officeDocument/2006/relationships" id="260" r:id="Rac35fed1f9324085"/>
    <p:sldId xmlns:r="http://schemas.openxmlformats.org/officeDocument/2006/relationships" id="261" r:id="Rca346194cb104ede"/>
    <p:sldId xmlns:r="http://schemas.openxmlformats.org/officeDocument/2006/relationships" id="262" r:id="R78e74713cc3b4808"/>
    <p:sldId xmlns:r="http://schemas.openxmlformats.org/officeDocument/2006/relationships" id="263" r:id="R8a29d9df97ab48be"/>
    <p:sldId xmlns:r="http://schemas.openxmlformats.org/officeDocument/2006/relationships" id="264" r:id="Rd20b2018a4844a68"/>
    <p:sldId xmlns:r="http://schemas.openxmlformats.org/officeDocument/2006/relationships" id="265" r:id="R5fe03d5aae0648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893c3a74bc453f" /><Relationship Type="http://schemas.openxmlformats.org/officeDocument/2006/relationships/slideMaster" Target="/ppt/slideMasters/slideMaster1.xml" Id="Rdea2fde834234a19" /><Relationship Type="http://schemas.openxmlformats.org/officeDocument/2006/relationships/notesMaster" Target="/ppt/notesMasters/notesMaster1.xml" Id="Rf2462d9bfda34b6e" /><Relationship Type="http://schemas.openxmlformats.org/officeDocument/2006/relationships/presProps" Target="/ppt/presProps.xml" Id="R9cf5e17ba2c64427" /><Relationship Type="http://schemas.openxmlformats.org/officeDocument/2006/relationships/tableStyles" Target="/ppt/tableStyles.xml" Id="Rfa00e28d072f4767" /><Relationship Type="http://schemas.openxmlformats.org/officeDocument/2006/relationships/slide" Target="/ppt/slides/slide1.xml" Id="R2688cc6d5d744931" /><Relationship Type="http://schemas.openxmlformats.org/officeDocument/2006/relationships/slide" Target="/ppt/slides/slide2.xml" Id="R698eca169d6e408c" /><Relationship Type="http://schemas.openxmlformats.org/officeDocument/2006/relationships/slide" Target="/ppt/slides/slide3.xml" Id="R117e92d6a24246dc" /><Relationship Type="http://schemas.openxmlformats.org/officeDocument/2006/relationships/slide" Target="/ppt/slides/slide4.xml" Id="R8d6e8cda8ae84e7f" /><Relationship Type="http://schemas.openxmlformats.org/officeDocument/2006/relationships/slide" Target="/ppt/slides/slide5.xml" Id="Rac35fed1f9324085" /><Relationship Type="http://schemas.openxmlformats.org/officeDocument/2006/relationships/slide" Target="/ppt/slides/slide6.xml" Id="Rca346194cb104ede" /><Relationship Type="http://schemas.openxmlformats.org/officeDocument/2006/relationships/slide" Target="/ppt/slides/slide7.xml" Id="R78e74713cc3b4808" /><Relationship Type="http://schemas.openxmlformats.org/officeDocument/2006/relationships/slide" Target="/ppt/slides/slide8.xml" Id="R8a29d9df97ab48be" /><Relationship Type="http://schemas.openxmlformats.org/officeDocument/2006/relationships/slide" Target="/ppt/slides/slide9.xml" Id="Rd20b2018a4844a68" /><Relationship Type="http://schemas.openxmlformats.org/officeDocument/2006/relationships/slide" Target="/ppt/slides/slide10.xml" Id="R5fe03d5aae0648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596990a6ac4f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c8976aff60463f" /><Relationship Type="http://schemas.openxmlformats.org/officeDocument/2006/relationships/notesMaster" Target="/ppt/notesMasters/notesMaster1.xml" Id="Rb1cb3925449d4a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9d291607874413" /><Relationship Type="http://schemas.openxmlformats.org/officeDocument/2006/relationships/notesMaster" Target="/ppt/notesMasters/notesMaster1.xml" Id="R426fcc607e3047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3fa03e8cb94714" /><Relationship Type="http://schemas.openxmlformats.org/officeDocument/2006/relationships/notesMaster" Target="/ppt/notesMasters/notesMaster1.xml" Id="R2e231e253c4f4b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eb4278a5b54bfa" /><Relationship Type="http://schemas.openxmlformats.org/officeDocument/2006/relationships/notesMaster" Target="/ppt/notesMasters/notesMaster1.xml" Id="R52a6c345d98a46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5ebbfce61048d7" /><Relationship Type="http://schemas.openxmlformats.org/officeDocument/2006/relationships/notesMaster" Target="/ppt/notesMasters/notesMaster1.xml" Id="R11e2ac687a4045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c1628c4f2e4c99" /><Relationship Type="http://schemas.openxmlformats.org/officeDocument/2006/relationships/notesMaster" Target="/ppt/notesMasters/notesMaster1.xml" Id="Rde0e709ff78544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85fa3f372c4f41" /><Relationship Type="http://schemas.openxmlformats.org/officeDocument/2006/relationships/notesMaster" Target="/ppt/notesMasters/notesMaster1.xml" Id="R0b5d60b257b541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a122dda3f449d0" /><Relationship Type="http://schemas.openxmlformats.org/officeDocument/2006/relationships/notesMaster" Target="/ppt/notesMasters/notesMaster1.xml" Id="Ra51f0a601afc4b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3e205cdb354fd5" /><Relationship Type="http://schemas.openxmlformats.org/officeDocument/2006/relationships/notesMaster" Target="/ppt/notesMasters/notesMaster1.xml" Id="R059709e7312d44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e8fa660f014a0e" /><Relationship Type="http://schemas.openxmlformats.org/officeDocument/2006/relationships/notesMaster" Target="/ppt/notesMasters/notesMaster1.xml" Id="Re9869ce291cd41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0:20. BidSentry AI membantu tim vendor membaca syarat pengadaan dan sinyal risiko kontrak lebih terarah. Hari ini kami akan menunjukkan prototipe lokal, status integrasi IBM, dan bukti validasi yang tersedia. Kami juga akan jujur tentang apa yang belum diuji.</a:t>
            </a:r>
          </a:p>
          <a:p xmlns:a="http://schemas.openxmlformats.org/drawingml/2006/main">
            <a:r>
              <a:t/>
            </a:r>
          </a:p>
          <a:p xmlns:a="http://schemas.openxmlformats.org/drawingml/2006/main">
            <a:r>
              <a:t>Sumber repo: README.md, 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0:40. Tim pengadaan vendor harus membaca persyaratan, adendum, dan bukti perusahaan secara bersamaan. Perubahan klausul mudah tertukar, sementara isu kontrak seperti termin pembayaran atau denda dapat memengaruhi kelayakan dan arus kas. Sistem kami hanya menandai sinyal dokumen. Pemeriksa tetap menentukan apakah ada masalah atau indikasi fraud.</a:t>
            </a:r>
          </a:p>
          <a:p xmlns:a="http://schemas.openxmlformats.org/drawingml/2006/main">
            <a:r>
              <a:t/>
            </a:r>
          </a:p>
          <a:p xmlns:a="http://schemas.openxmlformats.org/drawingml/2006/main">
            <a:r>
              <a:t>Sumber repo: README.md, 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0:40. Pengguna memasukkan isi dokumen pemilihan, adendum, dan daftar kredensial. Parser lokal mengelompokkan klausul dan memetakan status ke bukti yang diberikan. Hasilnya berupa matriks kepatuhan dan kategori risiko untuk membantu pemeriksa memprioritaskan tindak lanjut. Kode saat ini memakai aturan kata kunci sederhana, bukan model risiko yang sudah dikalibrasi.</a:t>
            </a:r>
          </a:p>
          <a:p xmlns:a="http://schemas.openxmlformats.org/drawingml/2006/main">
            <a:r>
              <a:t/>
            </a:r>
          </a:p>
          <a:p xmlns:a="http://schemas.openxmlformats.org/drawingml/2006/main">
            <a:r>
              <a:t>Sumber repo: index.html, 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0:50. Jalur yang dapat ditunjukkan dari repo adalah UI, bridge Python, rules engine lokal, matriks hasil, dan log JSONL. Server juga memiliki proxy menuju Langflow pada port 7860. File bob/mcp.json mendefinisikan server MCP Langflow, dan dispatcher Composio membangun aksi workspace. Namun folder flow Langflow kosong, dan tidak ada bukti koneksi langsung IBM Bob atau eksekusi Composio yang berhasil. Karena itu kami menyebutnya jalur integrasi yang disiapkan, bukan integrasi produksi.</a:t>
            </a:r>
          </a:p>
          <a:p xmlns:a="http://schemas.openxmlformats.org/drawingml/2006/main">
            <a:r>
              <a:t/>
            </a:r>
          </a:p>
          <a:p xmlns:a="http://schemas.openxmlformats.org/drawingml/2006/main">
            <a:r>
              <a:t>Sumber repo: index.html, server.py, bob/mcp.json, composio_dispatcher.py, langflow/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0:45. Dashboard menggabungkan verdict, kategori risiko, dan alasan utama. Skenario contoh menampilkan perubahan ambang melalui adendum, masa berlaku kredensial, serta dua klausul kontrak yang perlu diperiksa. Label TINGGI bukan angka probabilitas atau skor terkalibrasi. Ini adalah kategori triage dalam demo yang membantu mengarahkan perhatian reviewer.</a:t>
            </a:r>
          </a:p>
          <a:p xmlns:a="http://schemas.openxmlformats.org/drawingml/2006/main">
            <a:r>
              <a:t/>
            </a:r>
          </a:p>
          <a:p xmlns:a="http://schemas.openxmlformats.org/drawingml/2006/main">
            <a:r>
              <a:t>Sumber repo: 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0:50. Alur kustom menerima dokumen pemilihan, adendum, dan kredensial perusahaan. Parser sisi browser serta endpoint audit lokal memakai aturan kata kunci untuk menghasilkan status dan bukti. Matriks memberi reviewer titik awal untuk meninjau GAP atau masa berlaku. Tampilan finansial dalam skenario demo memberi sinyal kontrak, bukan rekomendasi hukum. Belum ada model angka risiko yang divalidasi atau keputusan fraud otomatis.</a:t>
            </a:r>
          </a:p>
          <a:p xmlns:a="http://schemas.openxmlformats.org/drawingml/2006/main">
            <a:r>
              <a:t/>
            </a:r>
          </a:p>
          <a:p xmlns:a="http://schemas.openxmlformats.org/drawingml/2006/main">
            <a:r>
              <a:t>Sumber repo: index.html, 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1:00. Dataset repo berisi tiga skenario tender fiktif. Satu baris audit lokal pada 2 Oktober 2026 mencatat hasil GO-WITH-CAUTION dan panjang input, bukan isi dokumen. Repo tidak mencatat peserta, kutipan, atau metrik respons pengguna. Maka kami tidak mengklaim validasi pengguna atau akurasi 94 persen. Untuk diskusi Komdigi, kami ingin menguji waktu tugas, kejelasan bukti, temuan salah, temuan terlewat, dan tingkat kepercayaan reviewer.</a:t>
            </a:r>
          </a:p>
          <a:p xmlns:a="http://schemas.openxmlformats.org/drawingml/2006/main">
            <a:r>
              <a:t/>
            </a:r>
          </a:p>
          <a:p xmlns:a="http://schemas.openxmlformats.org/drawingml/2006/main">
            <a:r>
              <a:t>Sumber repo: sample-data/tender-sample.json, audit_log.jsonl,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0:30. Tautan ini sengaja masih menjadi slot pengisian. Sebelum submission, unggah rekaman ke YouTube dengan status Unlisted dan ganti VIDEO_ID. Rekam alur yang benar-benar berjalan: buka dashboard, audit dokumen sampel, tunjukkan bukti dan risk bucket, lalu buka audit log. Jelaskan bahwa integrasi Bob dan Langflow belum dibuktikan end-to-end.</a:t>
            </a:r>
          </a:p>
          <a:p xmlns:a="http://schemas.openxmlformats.org/drawingml/2006/main">
            <a:r>
              <a:t/>
            </a:r>
          </a:p>
          <a:p xmlns:a="http://schemas.openxmlformats.org/drawingml/2006/main">
            <a:r>
              <a:t>Sumber repo: index.html, server.py, audit_log.jsonl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0:55. Nilai yang ingin kami ukur adalah apakah vendor menemukan gap lebih cepat, memahami risiko finansial, dan dapat menelusuri bukti. Prototype lokal membuat uji terkontrol cukup realistis, tetapi data contoh belum mewakili operasi pengguna. Roadmap ini adalah usulan: mulai dengan uji tugas bersama pengguna procurement dan paket yang dianonimkan, buktikan alur Bob dengan Langflow, lalu jalankan pilot kecil setelah peninjauan legal dan keamanan.</a:t>
            </a:r>
          </a:p>
          <a:p xmlns:a="http://schemas.openxmlformats.org/drawingml/2006/main">
            <a:r>
              <a:t/>
            </a:r>
          </a:p>
          <a:p xmlns:a="http://schemas.openxmlformats.org/drawingml/2006/main">
            <a:r>
              <a:t>Sumber repo: index.html, server.py, bob/mcp.json, sample-data/tender-sample.json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0:20. Kami adalah Tim BidSentry AI pada track IBM SkillsBuild 2026. Fokus kami adalah membantu vendor membaca risiko pengadaan lebih awal. Langkah berikutnya bukan membesarkan klaim, melainkan menguji alur dengan pengguna, mengukur salah tandai dan temuan terlewat, lalu membuktikan integrasi IBM secara terbatas. Kami mohon arahan untuk merancang pilot tersebut.</a:t>
            </a:r>
          </a:p>
          <a:p xmlns:a="http://schemas.openxmlformats.org/drawingml/2006/main">
            <a:r>
              <a:t/>
            </a:r>
          </a:p>
          <a:p xmlns:a="http://schemas.openxmlformats.org/drawingml/2006/main">
            <a:r>
              <a:t>Sumber repo: README.md, index.html, server.py, bob/mcp.json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684445dc424a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8f1fd6f287b46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f44cf117da40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e8eca81d1741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4c7e8608f364f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13027005a64c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ECBADD-875B-4355-80CE-9BB6007C6DE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9718A73-1637-4586-B6E9-E84E6BE3AB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A3BFA2-77C5-4BEB-8595-22FCBCD58E5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24D78D-8814-43C8-BA95-25627C38EC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88A87F7-1454-463E-8663-68EBD4E618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20A118-1962-4947-B2E5-6F3BC33A5D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995288-6D98-4D39-83D2-8C6F8D0841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4B8AE25-5A97-4F2D-AF2B-58CC0B2F4C0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A43DBA-7336-4C1D-A445-B4F9CCF0D5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6063A1-CF0F-4ADE-A964-E766BD6389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87ad965c854bde" /><Relationship Type="http://schemas.openxmlformats.org/officeDocument/2006/relationships/slideLayout" Target="/ppt/slideLayouts/slideLayout1.xml" Id="R1805f4e233dc4078" /><Relationship Type="http://schemas.openxmlformats.org/officeDocument/2006/relationships/slideLayout" Target="/ppt/slideLayouts/slideLayout2.xml" Id="R5c9e43bff04248a6" /><Relationship Type="http://schemas.openxmlformats.org/officeDocument/2006/relationships/slideLayout" Target="/ppt/slideLayouts/slideLayout3.xml" Id="R83e77e084c124710" /><Relationship Type="http://schemas.openxmlformats.org/officeDocument/2006/relationships/slideLayout" Target="/ppt/slideLayouts/slideLayout4.xml" Id="Rf4abdbc3f1c04553" /><Relationship Type="http://schemas.openxmlformats.org/officeDocument/2006/relationships/slideLayout" Target="/ppt/slideLayouts/slideLayout5.xml" Id="R1a0cf74fc0f545d3" /><Relationship Type="http://schemas.openxmlformats.org/officeDocument/2006/relationships/slideLayout" Target="/ppt/slideLayouts/slideLayout6.xml" Id="R62546657d99244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05f4e233dc4078"/>
    <p:sldLayoutId xmlns:r="http://schemas.openxmlformats.org/officeDocument/2006/relationships" id="2147483650" r:id="R5c9e43bff04248a6"/>
    <p:sldLayoutId xmlns:r="http://schemas.openxmlformats.org/officeDocument/2006/relationships" id="2147483651" r:id="R83e77e084c124710"/>
    <p:sldLayoutId xmlns:r="http://schemas.openxmlformats.org/officeDocument/2006/relationships" id="2147483652" r:id="Rf4abdbc3f1c04553"/>
    <p:sldLayoutId xmlns:r="http://schemas.openxmlformats.org/officeDocument/2006/relationships" id="2147483653" r:id="R1a0cf74fc0f545d3"/>
    <p:sldLayoutId xmlns:r="http://schemas.openxmlformats.org/officeDocument/2006/relationships" id="2147483654" r:id="R62546657d99244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1763a46462a4601" /><Relationship Type="http://schemas.openxmlformats.org/officeDocument/2006/relationships/notesSlide" Target="/ppt/notesSlides/notesSlide1.xml" Id="R290c8673176841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8837d1e15384463" /><Relationship Type="http://schemas.openxmlformats.org/officeDocument/2006/relationships/notesSlide" Target="/ppt/notesSlides/notesSlide2.xml" Id="Re07f53c3e9304e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5b89051f6a44894" /><Relationship Type="http://schemas.openxmlformats.org/officeDocument/2006/relationships/notesSlide" Target="/ppt/notesSlides/notesSlide3.xml" Id="R8ce66a3679c046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c3f9510cc994fc9" /><Relationship Type="http://schemas.openxmlformats.org/officeDocument/2006/relationships/notesSlide" Target="/ppt/notesSlides/notesSlide4.xml" Id="R4c664725251c4f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446964c05724dee" /><Relationship Type="http://schemas.openxmlformats.org/officeDocument/2006/relationships/image" Target="/ppt/media/image.png" Id="R0b0b515d4f5e4eef" /><Relationship Type="http://schemas.openxmlformats.org/officeDocument/2006/relationships/notesSlide" Target="/ppt/notesSlides/notesSlide5.xml" Id="R93fa5350969a4e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24fb02ffacb4278" /><Relationship Type="http://schemas.openxmlformats.org/officeDocument/2006/relationships/image" Target="/ppt/media/image2.png" Id="R9a4b9ee00274474d" /><Relationship Type="http://schemas.openxmlformats.org/officeDocument/2006/relationships/image" Target="/ppt/media/image3.png" Id="R8d193fee4ada4255" /><Relationship Type="http://schemas.openxmlformats.org/officeDocument/2006/relationships/notesSlide" Target="/ppt/notesSlides/notesSlide6.xml" Id="R8f9926d19ac241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f43d33e70104504" /><Relationship Type="http://schemas.openxmlformats.org/officeDocument/2006/relationships/image" Target="/ppt/media/image4.png" Id="Rd668e6909d5a427f" /><Relationship Type="http://schemas.openxmlformats.org/officeDocument/2006/relationships/notesSlide" Target="/ppt/notesSlides/notesSlide7.xml" Id="R2b93a9a6c48946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30b836662ba4f5d" /><Relationship Type="http://schemas.openxmlformats.org/officeDocument/2006/relationships/notesSlide" Target="/ppt/notesSlides/notesSlide8.xml" Id="R490e7b3f8e8a4e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517b7037b74d7b" /><Relationship Type="http://schemas.openxmlformats.org/officeDocument/2006/relationships/notesSlide" Target="/ppt/notesSlides/notesSlide9.xml" Id="R7d1bc696df7b41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556f3995976488a" /><Relationship Type="http://schemas.openxmlformats.org/officeDocument/2006/relationships/notesSlide" Target="/ppt/notesSlides/notesSlide10.xml" Id="R929ce4f0aaaf44ff" /></Relationships>
</file>

<file path=ppt/slides/slide1.xml><?xml version="1.0" encoding="utf-8"?>
<p:sld xmlns:p="http://schemas.openxmlformats.org/presentationml/2006/main">
  <p:cSld>
    <p:bg>
      <p:bgPr>
        <a:solidFill xmlns:a="http://schemas.openxmlformats.org/drawingml/2006/main">
          <a:srgbClr val="0B1728"/>
        </a:solidFill>
      </p:bgPr>
    </p:bg>
    <p:spTree>
      <p:nvGrpSpPr>
        <p:cNvPr id="1" name=""/>
        <p:cNvGrpSpPr/>
        <p:nvPr/>
      </p:nvGrpSpPr>
      <p:grpSpPr>
        <a:xfrm xmlns:a="http://schemas.openxmlformats.org/drawingml/2006/main"/>
      </p:grpSpPr>
      <p:sp>
        <p:nvSpPr>
          <p:cNvPr id="9" name="cover-accent">
            <a:extLst xmlns:a="http://schemas.openxmlformats.org/drawingml/2006/main">
              <a:ext uri="{FF2B5EF4-FFF2-40B4-BE49-F238E27FC236}">
                <a16:creationId xmlns:a16="http://schemas.microsoft.com/office/drawing/2014/main" id="{22C4A8CA-8482-4429-974F-A611866F74AB}"/>
              </a:ext>
            </a:extLst>
          </p:cNvPr>
          <p:cNvSpPr>
            <a:spLocks xmlns:a="http://schemas.openxmlformats.org/drawingml/2006/main" noGrp="1"/>
          </p:cNvSpPr>
          <p:nvPr/>
        </p:nvSpPr>
        <p:spPr>
          <a:xfrm xmlns:a="http://schemas.openxmlformats.org/drawingml/2006/main">
            <a:off x="685800" y="876300"/>
            <a:ext cx="66675" cy="323850"/>
          </a:xfrm>
          <a:prstGeom xmlns:a="http://schemas.openxmlformats.org/drawingml/2006/main" prst="rect">
            <a:avLst/>
          </a:prstGeom>
          <a:solidFill xmlns:a="http://schemas.openxmlformats.org/drawingml/2006/main">
            <a:srgbClr val="4589FF"/>
          </a:solidFill>
          <a:ln xmlns:a="http://schemas.openxmlformats.org/drawingml/2006/main" w="0">
            <a:noFill/>
            <a:prstDash val="solid"/>
          </a:ln>
        </p:spPr>
      </p:sp>
      <p:sp>
        <p:nvSpPr>
          <p:cNvPr id="2" name="cover-track">
            <a:extLst xmlns:a="http://schemas.openxmlformats.org/drawingml/2006/main">
              <a:ext uri="{FF2B5EF4-FFF2-40B4-BE49-F238E27FC236}">
                <a16:creationId xmlns:a16="http://schemas.microsoft.com/office/drawing/2014/main" id="{E43F4517-79C4-4010-ADE6-88A0442718D4}"/>
              </a:ext>
            </a:extLst>
          </p:cNvPr>
          <p:cNvSpPr>
            <a:spLocks xmlns:a="http://schemas.openxmlformats.org/drawingml/2006/main" noGrp="1"/>
          </p:cNvSpPr>
          <p:nvPr/>
        </p:nvSpPr>
        <p:spPr>
          <a:xfrm xmlns:a="http://schemas.openxmlformats.org/drawingml/2006/main">
            <a:off x="914400" y="923925"/>
            <a:ext cx="590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9EC5FF"/>
                </a:solidFill>
                <a:latin typeface="Arial"/>
                <a:ea typeface="Arial"/>
                <a:cs typeface="Arial"/>
              </a:defRPr>
            </a:defPPr>
          </a:lstStyle>
          <a:p xmlns:a="http://schemas.openxmlformats.org/drawingml/2006/main">
            <a:pPr algn="l">
              <a:defRPr sz="1350" b="1">
                <a:solidFill>
                  <a:srgbClr val="9EC5FF"/>
                </a:solidFill>
                <a:latin typeface="Arial"/>
                <a:ea typeface="Arial"/>
                <a:cs typeface="Arial"/>
              </a:defRPr>
            </a:pPr>
            <a:r>
              <a:rPr sz="1350" b="1">
                <a:solidFill>
                  <a:srgbClr val="9EC5FF"/>
                </a:solidFill>
                <a:latin typeface="Arial"/>
                <a:ea typeface="Arial"/>
                <a:cs typeface="Arial"/>
              </a:rPr>
              <a:t>IBM SKILLSBUILD 2026  ·  TRACK IBM</a:t>
            </a:r>
          </a:p>
        </p:txBody>
      </p:sp>
      <p:sp>
        <p:nvSpPr>
          <p:cNvPr id="3" name="cover-title">
            <a:extLst xmlns:a="http://schemas.openxmlformats.org/drawingml/2006/main">
              <a:ext uri="{FF2B5EF4-FFF2-40B4-BE49-F238E27FC236}">
                <a16:creationId xmlns:a16="http://schemas.microsoft.com/office/drawing/2014/main" id="{4887F9D0-728F-4E14-9E18-75AD6A65A59C}"/>
              </a:ext>
            </a:extLst>
          </p:cNvPr>
          <p:cNvSpPr>
            <a:spLocks xmlns:a="http://schemas.openxmlformats.org/drawingml/2006/main" noGrp="1"/>
          </p:cNvSpPr>
          <p:nvPr/>
        </p:nvSpPr>
        <p:spPr>
          <a:xfrm xmlns:a="http://schemas.openxmlformats.org/drawingml/2006/main">
            <a:off x="685800" y="1943100"/>
            <a:ext cx="990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5550" b="1">
                <a:solidFill>
                  <a:srgbClr val="FFFFFF"/>
                </a:solidFill>
                <a:latin typeface="Arial"/>
                <a:ea typeface="Arial"/>
                <a:cs typeface="Arial"/>
              </a:defRPr>
            </a:defPPr>
          </a:lstStyle>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BidSentry AI</a:t>
            </a:r>
          </a:p>
        </p:txBody>
      </p:sp>
      <p:sp>
        <p:nvSpPr>
          <p:cNvPr id="4" name="cover-tagline">
            <a:extLst xmlns:a="http://schemas.openxmlformats.org/drawingml/2006/main">
              <a:ext uri="{FF2B5EF4-FFF2-40B4-BE49-F238E27FC236}">
                <a16:creationId xmlns:a16="http://schemas.microsoft.com/office/drawing/2014/main" id="{ABAB549B-3B58-4542-9D09-57B7409A12A7}"/>
              </a:ext>
            </a:extLst>
          </p:cNvPr>
          <p:cNvSpPr>
            <a:spLocks xmlns:a="http://schemas.openxmlformats.org/drawingml/2006/main" noGrp="1"/>
          </p:cNvSpPr>
          <p:nvPr/>
        </p:nvSpPr>
        <p:spPr>
          <a:xfrm xmlns:a="http://schemas.openxmlformats.org/drawingml/2006/main">
            <a:off x="723900" y="3181350"/>
            <a:ext cx="8667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325" b="0">
                <a:solidFill>
                  <a:srgbClr val="EAF2FF"/>
                </a:solidFill>
                <a:latin typeface="Arial"/>
                <a:ea typeface="Arial"/>
                <a:cs typeface="Arial"/>
              </a:defRPr>
            </a:defPPr>
          </a:lstStyle>
          <a:p xmlns:a="http://schemas.openxmlformats.org/drawingml/2006/main">
            <a:pPr algn="l">
              <a:lnSpc>
                <a:spcPct val="105000"/>
              </a:lnSpc>
              <a:buNone/>
              <a:defRPr sz="2325" b="0">
                <a:solidFill>
                  <a:srgbClr val="EAF2FF"/>
                </a:solidFill>
                <a:latin typeface="Arial"/>
                <a:ea typeface="Arial"/>
                <a:cs typeface="Arial"/>
              </a:defRPr>
            </a:pPr>
            <a:r>
              <a:rPr sz="2325" b="0">
                <a:solidFill>
                  <a:srgbClr val="EAF2FF"/>
                </a:solidFill>
                <a:latin typeface="Arial"/>
                <a:ea typeface="Arial"/>
                <a:cs typeface="Arial"/>
              </a:rPr>
              <a:t>Audit kepatuhan pengadaan dan risiko kontrak</a:t>
            </a:r>
          </a:p>
          <a:p xmlns:a="http://schemas.openxmlformats.org/drawingml/2006/main">
            <a:pPr algn="l">
              <a:lnSpc>
                <a:spcPct val="105000"/>
              </a:lnSpc>
              <a:buNone/>
              <a:defRPr sz="2325" b="0">
                <a:solidFill>
                  <a:srgbClr val="EAF2FF"/>
                </a:solidFill>
                <a:latin typeface="Arial"/>
                <a:ea typeface="Arial"/>
                <a:cs typeface="Arial"/>
              </a:defRPr>
            </a:pPr>
            <a:r>
              <a:rPr sz="2325" b="0">
                <a:solidFill>
                  <a:srgbClr val="EAF2FF"/>
                </a:solidFill>
                <a:latin typeface="Arial"/>
                <a:ea typeface="Arial"/>
                <a:cs typeface="Arial"/>
              </a:rPr>
              <a:t>sebelum penawaran dikirim.</a:t>
            </a:r>
          </a:p>
        </p:txBody>
      </p:sp>
      <p:sp>
        <p:nvSpPr>
          <p:cNvPr id="5" name="cover-team">
            <a:extLst xmlns:a="http://schemas.openxmlformats.org/drawingml/2006/main">
              <a:ext uri="{FF2B5EF4-FFF2-40B4-BE49-F238E27FC236}">
                <a16:creationId xmlns:a16="http://schemas.microsoft.com/office/drawing/2014/main" id="{527A5C67-89B0-46EA-A702-B65E0C45C690}"/>
              </a:ext>
            </a:extLst>
          </p:cNvPr>
          <p:cNvSpPr>
            <a:spLocks xmlns:a="http://schemas.openxmlformats.org/drawingml/2006/main" noGrp="1"/>
          </p:cNvSpPr>
          <p:nvPr/>
        </p:nvSpPr>
        <p:spPr>
          <a:xfrm xmlns:a="http://schemas.openxmlformats.org/drawingml/2006/main">
            <a:off x="723900" y="50577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Tim BidSentry AI</a:t>
            </a:r>
          </a:p>
        </p:txBody>
      </p:sp>
      <p:sp>
        <p:nvSpPr>
          <p:cNvPr id="6" name="cover-meta">
            <a:extLst xmlns:a="http://schemas.openxmlformats.org/drawingml/2006/main">
              <a:ext uri="{FF2B5EF4-FFF2-40B4-BE49-F238E27FC236}">
                <a16:creationId xmlns:a16="http://schemas.microsoft.com/office/drawing/2014/main" id="{D11DF7CC-2285-4BDF-8A57-89D2FB747943}"/>
              </a:ext>
            </a:extLst>
          </p:cNvPr>
          <p:cNvSpPr>
            <a:spLocks xmlns:a="http://schemas.openxmlformats.org/drawingml/2006/main" noGrp="1"/>
          </p:cNvSpPr>
          <p:nvPr/>
        </p:nvSpPr>
        <p:spPr>
          <a:xfrm xmlns:a="http://schemas.openxmlformats.org/drawingml/2006/main">
            <a:off x="723900" y="54768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9AAFC9"/>
                </a:solidFill>
                <a:latin typeface="Arial"/>
                <a:ea typeface="Arial"/>
                <a:cs typeface="Arial"/>
              </a:defRPr>
            </a:defPPr>
          </a:lstStyle>
          <a:p xmlns:a="http://schemas.openxmlformats.org/drawingml/2006/main">
            <a:pPr algn="l">
              <a:defRPr sz="1275" b="0">
                <a:solidFill>
                  <a:srgbClr val="9AAFC9"/>
                </a:solidFill>
                <a:latin typeface="Arial"/>
                <a:ea typeface="Arial"/>
                <a:cs typeface="Arial"/>
              </a:defRPr>
            </a:pPr>
            <a:r>
              <a:rPr sz="1275" b="0">
                <a:solidFill>
                  <a:srgbClr val="9AAFC9"/>
                </a:solidFill>
                <a:latin typeface="Arial"/>
                <a:ea typeface="Arial"/>
                <a:cs typeface="Arial"/>
              </a:rPr>
              <a:t>Pitch deck  ·  2026</a:t>
            </a:r>
          </a:p>
        </p:txBody>
      </p:sp>
      <p:sp>
        <p:nvSpPr>
          <p:cNvPr id="7" name="cover-rule">
            <a:extLst xmlns:a="http://schemas.openxmlformats.org/drawingml/2006/main">
              <a:ext uri="{FF2B5EF4-FFF2-40B4-BE49-F238E27FC236}">
                <a16:creationId xmlns:a16="http://schemas.microsoft.com/office/drawing/2014/main" id="{6A70AED6-D9F3-4DBF-B24A-4F66804F4D8E}"/>
              </a:ext>
            </a:extLst>
          </p:cNvPr>
          <p:cNvSpPr>
            <a:spLocks xmlns:a="http://schemas.openxmlformats.org/drawingml/2006/main" noGrp="1"/>
          </p:cNvSpPr>
          <p:nvPr/>
        </p:nvSpPr>
        <p:spPr>
          <a:xfrm xmlns:a="http://schemas.openxmlformats.org/drawingml/2006/main">
            <a:off x="723900" y="6096000"/>
            <a:ext cx="10763250" cy="19050"/>
          </a:xfrm>
          <a:prstGeom xmlns:a="http://schemas.openxmlformats.org/drawingml/2006/main" prst="rect">
            <a:avLst/>
          </a:prstGeom>
          <a:solidFill xmlns:a="http://schemas.openxmlformats.org/drawingml/2006/main">
            <a:srgbClr val="27415F"/>
          </a:solidFill>
          <a:ln xmlns:a="http://schemas.openxmlformats.org/drawingml/2006/main" w="0">
            <a:noFill/>
            <a:prstDash val="solid"/>
          </a:ln>
        </p:spPr>
      </p:sp>
      <p:sp>
        <p:nvSpPr>
          <p:cNvPr id="8" name="cover-footer">
            <a:extLst xmlns:a="http://schemas.openxmlformats.org/drawingml/2006/main">
              <a:ext uri="{FF2B5EF4-FFF2-40B4-BE49-F238E27FC236}">
                <a16:creationId xmlns:a16="http://schemas.microsoft.com/office/drawing/2014/main" id="{A8136CF0-C28B-4DFD-9E58-0693280045CB}"/>
              </a:ext>
            </a:extLst>
          </p:cNvPr>
          <p:cNvSpPr>
            <a:spLocks xmlns:a="http://schemas.openxmlformats.org/drawingml/2006/main" noGrp="1"/>
          </p:cNvSpPr>
          <p:nvPr/>
        </p:nvSpPr>
        <p:spPr>
          <a:xfrm xmlns:a="http://schemas.openxmlformats.org/drawingml/2006/main">
            <a:off x="723900" y="62484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9AAFC9"/>
                </a:solidFill>
                <a:latin typeface="Arial"/>
                <a:ea typeface="Arial"/>
                <a:cs typeface="Arial"/>
              </a:defRPr>
            </a:defPPr>
          </a:lstStyle>
          <a:p xmlns:a="http://schemas.openxmlformats.org/drawingml/2006/main">
            <a:pPr algn="l">
              <a:defRPr sz="1125" b="0">
                <a:solidFill>
                  <a:srgbClr val="9AAFC9"/>
                </a:solidFill>
                <a:latin typeface="Arial"/>
                <a:ea typeface="Arial"/>
                <a:cs typeface="Arial"/>
              </a:defRPr>
            </a:pPr>
            <a:r>
              <a:rPr sz="1125" b="0">
                <a:solidFill>
                  <a:srgbClr val="9AAFC9"/>
                </a:solidFill>
                <a:latin typeface="Arial"/>
                <a:ea typeface="Arial"/>
                <a:cs typeface="Arial"/>
              </a:rPr>
              <a:t>IBM SkillsBuild 2026</a:t>
            </a:r>
          </a:p>
        </p:txBody>
      </p:sp>
    </p:spTree>
    <p:extLst>
      <p:ext uri="{BB962C8B-B14F-4D97-AF65-F5344CB8AC3E}">
        <p14:creationId xmlns:p14="http://schemas.microsoft.com/office/powerpoint/2010/main" val="3384824"/>
      </p:ext>
    </p:extLst>
  </p:cSld>
</p:sld>
</file>

<file path=ppt/slides/slide2.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8" name="brand-mark">
            <a:extLst xmlns:a="http://schemas.openxmlformats.org/drawingml/2006/main">
              <a:ext uri="{FF2B5EF4-FFF2-40B4-BE49-F238E27FC236}">
                <a16:creationId xmlns:a16="http://schemas.microsoft.com/office/drawing/2014/main" id="{67DDF3D6-1BC8-45F8-A451-154D69D132FE}"/>
              </a:ext>
            </a:extLst>
          </p:cNvPr>
          <p:cNvSpPr>
            <a:spLocks xmlns:a="http://schemas.openxmlformats.org/drawingml/2006/main" noGrp="1"/>
          </p:cNvSpPr>
          <p:nvPr/>
        </p:nvSpPr>
        <p:spPr>
          <a:xfrm xmlns:a="http://schemas.openxmlformats.org/drawingml/2006/main">
            <a:off x="685800" y="371475"/>
            <a:ext cx="47625" cy="171450"/>
          </a:xfrm>
          <a:prstGeom xmlns:a="http://schemas.openxmlformats.org/drawingml/2006/main" prst="rect">
            <a:avLst/>
          </a:prstGeom>
          <a:solidFill xmlns:a="http://schemas.openxmlformats.org/drawingml/2006/main">
            <a:srgbClr val="0F62FE"/>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D6F3F3DA-B914-4189-8376-51C6FCC31C42}"/>
              </a:ext>
            </a:extLst>
          </p:cNvPr>
          <p:cNvSpPr>
            <a:spLocks xmlns:a="http://schemas.openxmlformats.org/drawingml/2006/main" noGrp="1"/>
          </p:cNvSpPr>
          <p:nvPr/>
        </p:nvSpPr>
        <p:spPr>
          <a:xfrm xmlns:a="http://schemas.openxmlformats.org/drawingml/2006/main">
            <a:off x="838200" y="361950"/>
            <a:ext cx="571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0F62FE"/>
                </a:solidFill>
                <a:latin typeface="Arial"/>
                <a:ea typeface="Arial"/>
                <a:cs typeface="Arial"/>
              </a:defRPr>
            </a:defPPr>
          </a:lstStyle>
          <a:p xmlns:a="http://schemas.openxmlformats.org/drawingml/2006/main">
            <a:pPr algn="l">
              <a:defRPr sz="1050" b="1">
                <a:solidFill>
                  <a:srgbClr val="0F62FE"/>
                </a:solidFill>
                <a:latin typeface="Arial"/>
                <a:ea typeface="Arial"/>
                <a:cs typeface="Arial"/>
              </a:defRPr>
            </a:pPr>
            <a:r>
              <a:rPr sz="1050" b="1">
                <a:solidFill>
                  <a:srgbClr val="0F62FE"/>
                </a:solidFill>
                <a:latin typeface="Arial"/>
                <a:ea typeface="Arial"/>
                <a:cs typeface="Arial"/>
              </a:rPr>
              <a:t>BIDSENTRY AI  /  IBM SKILLSBUILD 2026</a:t>
            </a:r>
          </a:p>
        </p:txBody>
      </p:sp>
      <p:sp>
        <p:nvSpPr>
          <p:cNvPr id="3" name="slide-title">
            <a:extLst xmlns:a="http://schemas.openxmlformats.org/drawingml/2006/main">
              <a:ext uri="{FF2B5EF4-FFF2-40B4-BE49-F238E27FC236}">
                <a16:creationId xmlns:a16="http://schemas.microsoft.com/office/drawing/2014/main" id="{6F20C3F8-FF5E-4750-B718-166A1B87690F}"/>
              </a:ext>
            </a:extLst>
          </p:cNvPr>
          <p:cNvSpPr>
            <a:spLocks xmlns:a="http://schemas.openxmlformats.org/drawingml/2006/main" noGrp="1"/>
          </p:cNvSpPr>
          <p:nvPr/>
        </p:nvSpPr>
        <p:spPr>
          <a:xfrm xmlns:a="http://schemas.openxmlformats.org/drawingml/2006/main">
            <a:off x="685800" y="714375"/>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0B1728"/>
                </a:solidFill>
                <a:latin typeface="Arial"/>
                <a:ea typeface="Arial"/>
                <a:cs typeface="Arial"/>
              </a:defRPr>
            </a:defPPr>
          </a:lstStyle>
          <a:p xmlns:a="http://schemas.openxmlformats.org/drawingml/2006/main">
            <a:pPr algn="l">
              <a:lnSpc>
                <a:spcPct val="96000"/>
              </a:lnSpc>
              <a:buNone/>
              <a:defRPr sz="3000" b="1">
                <a:solidFill>
                  <a:srgbClr val="0B1728"/>
                </a:solidFill>
                <a:latin typeface="Arial"/>
                <a:ea typeface="Arial"/>
                <a:cs typeface="Arial"/>
              </a:defRPr>
            </a:pPr>
            <a:r>
              <a:rPr sz="3000" b="1">
                <a:solidFill>
                  <a:srgbClr val="0B1728"/>
                </a:solidFill>
                <a:latin typeface="Arial"/>
                <a:ea typeface="Arial"/>
                <a:cs typeface="Arial"/>
              </a:rPr>
              <a:t>Audit pengadaan melelahkan karena bukti tersebar</a:t>
            </a:r>
          </a:p>
        </p:txBody>
      </p:sp>
      <p:sp>
        <p:nvSpPr>
          <p:cNvPr id="4" name="key-takeaway">
            <a:extLst xmlns:a="http://schemas.openxmlformats.org/drawingml/2006/main">
              <a:ext uri="{FF2B5EF4-FFF2-40B4-BE49-F238E27FC236}">
                <a16:creationId xmlns:a16="http://schemas.microsoft.com/office/drawing/2014/main" id="{7ACB24C0-4561-423E-A949-114B9273BF42}"/>
              </a:ext>
            </a:extLst>
          </p:cNvPr>
          <p:cNvSpPr>
            <a:spLocks xmlns:a="http://schemas.openxmlformats.org/drawingml/2006/main" noGrp="1"/>
          </p:cNvSpPr>
          <p:nvPr/>
        </p:nvSpPr>
        <p:spPr>
          <a:xfrm xmlns:a="http://schemas.openxmlformats.org/drawingml/2006/main">
            <a:off x="685800" y="1304925"/>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2B4D"/>
                </a:solidFill>
                <a:latin typeface="Arial"/>
                <a:ea typeface="Arial"/>
                <a:cs typeface="Arial"/>
              </a:defRPr>
            </a:defPPr>
          </a:lstStyle>
          <a:p xmlns:a="http://schemas.openxmlformats.org/drawingml/2006/main">
            <a:pPr algn="l">
              <a:lnSpc>
                <a:spcPct val="100000"/>
              </a:lnSpc>
              <a:buNone/>
              <a:defRPr sz="1650" b="1">
                <a:solidFill>
                  <a:srgbClr val="172B4D"/>
                </a:solidFill>
                <a:latin typeface="Arial"/>
                <a:ea typeface="Arial"/>
                <a:cs typeface="Arial"/>
              </a:defRPr>
            </a:pPr>
            <a:r>
              <a:rPr sz="1650" b="1">
                <a:solidFill>
                  <a:srgbClr val="172B4D"/>
                </a:solidFill>
                <a:latin typeface="Arial"/>
                <a:ea typeface="Arial"/>
                <a:cs typeface="Arial"/>
              </a:rPr>
              <a:t>Satu gap administratif atau klausul yang luput dapat menggugurkan peluang atau menambah eksposur biaya.</a:t>
            </a:r>
          </a:p>
        </p:txBody>
      </p:sp>
      <p:sp>
        <p:nvSpPr>
          <p:cNvPr id="5" name="page-number">
            <a:extLst xmlns:a="http://schemas.openxmlformats.org/drawingml/2006/main">
              <a:ext uri="{FF2B5EF4-FFF2-40B4-BE49-F238E27FC236}">
                <a16:creationId xmlns:a16="http://schemas.microsoft.com/office/drawing/2014/main" id="{86CBF357-AA7D-476B-B793-7752A7BBFD5A}"/>
              </a:ext>
            </a:extLst>
          </p:cNvPr>
          <p:cNvSpPr>
            <a:spLocks xmlns:a="http://schemas.openxmlformats.org/drawingml/2006/main" noGrp="1"/>
          </p:cNvSpPr>
          <p:nvPr/>
        </p:nvSpPr>
        <p:spPr>
          <a:xfrm xmlns:a="http://schemas.openxmlformats.org/drawingml/2006/main">
            <a:off x="10668000" y="64770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0">
                <a:solidFill>
                  <a:srgbClr val="526178"/>
                </a:solidFill>
                <a:latin typeface="Arial"/>
                <a:ea typeface="Arial"/>
                <a:cs typeface="Arial"/>
              </a:defRPr>
            </a:defPPr>
          </a:lstStyle>
          <a:p xmlns:a="http://schemas.openxmlformats.org/drawingml/2006/main">
            <a:pPr algn="r">
              <a:defRPr sz="975" b="0">
                <a:solidFill>
                  <a:srgbClr val="526178"/>
                </a:solidFill>
                <a:latin typeface="Arial"/>
                <a:ea typeface="Arial"/>
                <a:cs typeface="Arial"/>
              </a:defRPr>
            </a:pPr>
            <a:r>
              <a:rPr sz="975" b="0">
                <a:solidFill>
                  <a:srgbClr val="526178"/>
                </a:solidFill>
                <a:latin typeface="Arial"/>
                <a:ea typeface="Arial"/>
                <a:cs typeface="Arial"/>
              </a:rPr>
              <a:t>02 / 10</a:t>
            </a:r>
          </a:p>
        </p:txBody>
      </p:sp>
      <p:sp>
        <p:nvSpPr>
          <p:cNvPr id="6" name="problem-number-0">
            <a:extLst xmlns:a="http://schemas.openxmlformats.org/drawingml/2006/main">
              <a:ext uri="{FF2B5EF4-FFF2-40B4-BE49-F238E27FC236}">
                <a16:creationId xmlns:a16="http://schemas.microsoft.com/office/drawing/2014/main" id="{A66CBDFB-6582-4CB3-A2E6-10C066C7304B}"/>
              </a:ext>
            </a:extLst>
          </p:cNvPr>
          <p:cNvSpPr>
            <a:spLocks xmlns:a="http://schemas.openxmlformats.org/drawingml/2006/main" noGrp="1"/>
          </p:cNvSpPr>
          <p:nvPr/>
        </p:nvSpPr>
        <p:spPr>
          <a:xfrm xmlns:a="http://schemas.openxmlformats.org/drawingml/2006/main">
            <a:off x="685800" y="2428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67"/>
          </a:bodyPr>
          <a:lstStyle xmlns:a="http://schemas.openxmlformats.org/drawingml/2006/main">
            <a:defPPr algn="l">
              <a:defRPr sz="3750" b="1">
                <a:solidFill>
                  <a:srgbClr val="0F62FE"/>
                </a:solidFill>
                <a:latin typeface="Arial"/>
                <a:ea typeface="Arial"/>
                <a:cs typeface="Arial"/>
              </a:defRPr>
            </a:defPPr>
          </a:lstStyle>
          <a:p xmlns:a="http://schemas.openxmlformats.org/drawingml/2006/main">
            <a:pPr algn="l">
              <a:defRPr sz="3750" b="1">
                <a:solidFill>
                  <a:srgbClr val="0F62FE"/>
                </a:solidFill>
                <a:latin typeface="Arial"/>
                <a:ea typeface="Arial"/>
                <a:cs typeface="Arial"/>
              </a:defRPr>
            </a:pPr>
            <a:r>
              <a:rPr sz="3750" b="1">
                <a:solidFill>
                  <a:srgbClr val="0F62FE"/>
                </a:solidFill>
                <a:latin typeface="Arial"/>
                <a:ea typeface="Arial"/>
                <a:cs typeface="Arial"/>
              </a:rPr>
              <a:t>01</a:t>
            </a:r>
          </a:p>
        </p:txBody>
      </p:sp>
      <p:sp>
        <p:nvSpPr>
          <p:cNvPr id="7" name="problem-title-0">
            <a:extLst xmlns:a="http://schemas.openxmlformats.org/drawingml/2006/main">
              <a:ext uri="{FF2B5EF4-FFF2-40B4-BE49-F238E27FC236}">
                <a16:creationId xmlns:a16="http://schemas.microsoft.com/office/drawing/2014/main" id="{9F70E9CE-D3B4-49AF-8460-40F980998BA7}"/>
              </a:ext>
            </a:extLst>
          </p:cNvPr>
          <p:cNvSpPr>
            <a:spLocks xmlns:a="http://schemas.openxmlformats.org/drawingml/2006/main" noGrp="1"/>
          </p:cNvSpPr>
          <p:nvPr/>
        </p:nvSpPr>
        <p:spPr>
          <a:xfrm xmlns:a="http://schemas.openxmlformats.org/drawingml/2006/main">
            <a:off x="685800" y="3114675"/>
            <a:ext cx="3162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0B1728"/>
                </a:solidFill>
                <a:latin typeface="Arial"/>
                <a:ea typeface="Arial"/>
                <a:cs typeface="Arial"/>
              </a:defRPr>
            </a:defPPr>
          </a:lstStyle>
          <a:p xmlns:a="http://schemas.openxmlformats.org/drawingml/2006/main">
            <a:pPr algn="l">
              <a:defRPr sz="1800" b="1">
                <a:solidFill>
                  <a:srgbClr val="0B1728"/>
                </a:solidFill>
                <a:latin typeface="Arial"/>
                <a:ea typeface="Arial"/>
                <a:cs typeface="Arial"/>
              </a:defRPr>
            </a:pPr>
            <a:r>
              <a:rPr sz="1800" b="1">
                <a:solidFill>
                  <a:srgbClr val="0B1728"/>
                </a:solidFill>
                <a:latin typeface="Arial"/>
                <a:ea typeface="Arial"/>
                <a:cs typeface="Arial"/>
              </a:rPr>
              <a:t>Bukti tersebar</a:t>
            </a:r>
          </a:p>
        </p:txBody>
      </p:sp>
      <p:sp>
        <p:nvSpPr>
          <p:cNvPr id="8" name="problem-copy-0">
            <a:extLst xmlns:a="http://schemas.openxmlformats.org/drawingml/2006/main">
              <a:ext uri="{FF2B5EF4-FFF2-40B4-BE49-F238E27FC236}">
                <a16:creationId xmlns:a16="http://schemas.microsoft.com/office/drawing/2014/main" id="{D6A0C1B9-7D84-46B5-8146-BF2908CC3427}"/>
              </a:ext>
            </a:extLst>
          </p:cNvPr>
          <p:cNvSpPr>
            <a:spLocks xmlns:a="http://schemas.openxmlformats.org/drawingml/2006/main" noGrp="1"/>
          </p:cNvSpPr>
          <p:nvPr/>
        </p:nvSpPr>
        <p:spPr>
          <a:xfrm xmlns:a="http://schemas.openxmlformats.org/drawingml/2006/main">
            <a:off x="685800" y="3638550"/>
            <a:ext cx="31623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26178"/>
                </a:solidFill>
                <a:latin typeface="Arial"/>
                <a:ea typeface="Arial"/>
                <a:cs typeface="Arial"/>
              </a:defRPr>
            </a:defPPr>
          </a:lstStyle>
          <a:p xmlns:a="http://schemas.openxmlformats.org/drawingml/2006/main">
            <a:pPr algn="l">
              <a:lnSpc>
                <a:spcPct val="112000"/>
              </a:lnSpc>
              <a:buNone/>
              <a:defRPr sz="1575" b="0">
                <a:solidFill>
                  <a:srgbClr val="526178"/>
                </a:solidFill>
                <a:latin typeface="Arial"/>
                <a:ea typeface="Arial"/>
                <a:cs typeface="Arial"/>
              </a:defRPr>
            </a:pPr>
            <a:r>
              <a:rPr sz="1575" b="0">
                <a:solidFill>
                  <a:srgbClr val="526178"/>
                </a:solidFill>
                <a:latin typeface="Arial"/>
                <a:ea typeface="Arial"/>
                <a:cs typeface="Arial"/>
              </a:rPr>
              <a:t>Syarat pemilihan, adendum, dan kredensial perusahaan hidup di dokumen berbeda. Pemeriksa perlu mencocokkan ketiganya satu per satu.</a:t>
            </a:r>
          </a:p>
        </p:txBody>
      </p:sp>
      <p:sp>
        <p:nvSpPr>
          <p:cNvPr id="9" name="problem-number-1">
            <a:extLst xmlns:a="http://schemas.openxmlformats.org/drawingml/2006/main">
              <a:ext uri="{FF2B5EF4-FFF2-40B4-BE49-F238E27FC236}">
                <a16:creationId xmlns:a16="http://schemas.microsoft.com/office/drawing/2014/main" id="{77DA0AA9-B080-4024-92D3-D95DBF7547BC}"/>
              </a:ext>
            </a:extLst>
          </p:cNvPr>
          <p:cNvSpPr>
            <a:spLocks xmlns:a="http://schemas.openxmlformats.org/drawingml/2006/main" noGrp="1"/>
          </p:cNvSpPr>
          <p:nvPr/>
        </p:nvSpPr>
        <p:spPr>
          <a:xfrm xmlns:a="http://schemas.openxmlformats.org/drawingml/2006/main">
            <a:off x="4438650" y="2428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67"/>
          </a:bodyPr>
          <a:lstStyle xmlns:a="http://schemas.openxmlformats.org/drawingml/2006/main">
            <a:defPPr algn="l">
              <a:defRPr sz="3750" b="1">
                <a:solidFill>
                  <a:srgbClr val="0F62FE"/>
                </a:solidFill>
                <a:latin typeface="Arial"/>
                <a:ea typeface="Arial"/>
                <a:cs typeface="Arial"/>
              </a:defRPr>
            </a:defPPr>
          </a:lstStyle>
          <a:p xmlns:a="http://schemas.openxmlformats.org/drawingml/2006/main">
            <a:pPr algn="l">
              <a:defRPr sz="3750" b="1">
                <a:solidFill>
                  <a:srgbClr val="0F62FE"/>
                </a:solidFill>
                <a:latin typeface="Arial"/>
                <a:ea typeface="Arial"/>
                <a:cs typeface="Arial"/>
              </a:defRPr>
            </a:pPr>
            <a:r>
              <a:rPr sz="3750" b="1">
                <a:solidFill>
                  <a:srgbClr val="0F62FE"/>
                </a:solidFill>
                <a:latin typeface="Arial"/>
                <a:ea typeface="Arial"/>
                <a:cs typeface="Arial"/>
              </a:rPr>
              <a:t>02</a:t>
            </a:r>
          </a:p>
        </p:txBody>
      </p:sp>
      <p:sp>
        <p:nvSpPr>
          <p:cNvPr id="10" name="problem-title-1">
            <a:extLst xmlns:a="http://schemas.openxmlformats.org/drawingml/2006/main">
              <a:ext uri="{FF2B5EF4-FFF2-40B4-BE49-F238E27FC236}">
                <a16:creationId xmlns:a16="http://schemas.microsoft.com/office/drawing/2014/main" id="{97C1E056-9E96-44C7-BFF6-BF71E3FF5503}"/>
              </a:ext>
            </a:extLst>
          </p:cNvPr>
          <p:cNvSpPr>
            <a:spLocks xmlns:a="http://schemas.openxmlformats.org/drawingml/2006/main" noGrp="1"/>
          </p:cNvSpPr>
          <p:nvPr/>
        </p:nvSpPr>
        <p:spPr>
          <a:xfrm xmlns:a="http://schemas.openxmlformats.org/drawingml/2006/main">
            <a:off x="4438650" y="3114675"/>
            <a:ext cx="3162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0B1728"/>
                </a:solidFill>
                <a:latin typeface="Arial"/>
                <a:ea typeface="Arial"/>
                <a:cs typeface="Arial"/>
              </a:defRPr>
            </a:defPPr>
          </a:lstStyle>
          <a:p xmlns:a="http://schemas.openxmlformats.org/drawingml/2006/main">
            <a:pPr algn="l">
              <a:defRPr sz="1800" b="1">
                <a:solidFill>
                  <a:srgbClr val="0B1728"/>
                </a:solidFill>
                <a:latin typeface="Arial"/>
                <a:ea typeface="Arial"/>
                <a:cs typeface="Arial"/>
              </a:defRPr>
            </a:pPr>
            <a:r>
              <a:rPr sz="1800" b="1">
                <a:solidFill>
                  <a:srgbClr val="0B1728"/>
                </a:solidFill>
                <a:latin typeface="Arial"/>
                <a:ea typeface="Arial"/>
                <a:cs typeface="Arial"/>
              </a:rPr>
              <a:t>Perubahan luput</a:t>
            </a:r>
          </a:p>
        </p:txBody>
      </p:sp>
      <p:sp>
        <p:nvSpPr>
          <p:cNvPr id="11" name="problem-copy-1">
            <a:extLst xmlns:a="http://schemas.openxmlformats.org/drawingml/2006/main">
              <a:ext uri="{FF2B5EF4-FFF2-40B4-BE49-F238E27FC236}">
                <a16:creationId xmlns:a16="http://schemas.microsoft.com/office/drawing/2014/main" id="{0D89BFF4-C014-4766-902D-7058155A4D2B}"/>
              </a:ext>
            </a:extLst>
          </p:cNvPr>
          <p:cNvSpPr>
            <a:spLocks xmlns:a="http://schemas.openxmlformats.org/drawingml/2006/main" noGrp="1"/>
          </p:cNvSpPr>
          <p:nvPr/>
        </p:nvSpPr>
        <p:spPr>
          <a:xfrm xmlns:a="http://schemas.openxmlformats.org/drawingml/2006/main">
            <a:off x="4438650" y="3638550"/>
            <a:ext cx="31623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26178"/>
                </a:solidFill>
                <a:latin typeface="Arial"/>
                <a:ea typeface="Arial"/>
                <a:cs typeface="Arial"/>
              </a:defRPr>
            </a:defPPr>
          </a:lstStyle>
          <a:p xmlns:a="http://schemas.openxmlformats.org/drawingml/2006/main">
            <a:pPr algn="l">
              <a:lnSpc>
                <a:spcPct val="112000"/>
              </a:lnSpc>
              <a:buNone/>
              <a:defRPr sz="1575" b="0">
                <a:solidFill>
                  <a:srgbClr val="526178"/>
                </a:solidFill>
                <a:latin typeface="Arial"/>
                <a:ea typeface="Arial"/>
                <a:cs typeface="Arial"/>
              </a:defRPr>
            </a:pPr>
            <a:r>
              <a:rPr sz="1575" b="0">
                <a:solidFill>
                  <a:srgbClr val="526178"/>
                </a:solidFill>
                <a:latin typeface="Arial"/>
                <a:ea typeface="Arial"/>
                <a:cs typeface="Arial"/>
              </a:rPr>
              <a:t>Adendum dapat mengubah ambang atau bentuk persyaratan. Review manual mudah membandingkan versi yang salah.</a:t>
            </a:r>
          </a:p>
        </p:txBody>
      </p:sp>
      <p:sp>
        <p:nvSpPr>
          <p:cNvPr id="12" name="problem-number-2">
            <a:extLst xmlns:a="http://schemas.openxmlformats.org/drawingml/2006/main">
              <a:ext uri="{FF2B5EF4-FFF2-40B4-BE49-F238E27FC236}">
                <a16:creationId xmlns:a16="http://schemas.microsoft.com/office/drawing/2014/main" id="{7B677000-0B01-42D7-9DC9-0E72DC171D3C}"/>
              </a:ext>
            </a:extLst>
          </p:cNvPr>
          <p:cNvSpPr>
            <a:spLocks xmlns:a="http://schemas.openxmlformats.org/drawingml/2006/main" noGrp="1"/>
          </p:cNvSpPr>
          <p:nvPr/>
        </p:nvSpPr>
        <p:spPr>
          <a:xfrm xmlns:a="http://schemas.openxmlformats.org/drawingml/2006/main">
            <a:off x="8191500" y="2428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67"/>
          </a:bodyPr>
          <a:lstStyle xmlns:a="http://schemas.openxmlformats.org/drawingml/2006/main">
            <a:defPPr algn="l">
              <a:defRPr sz="3750" b="1">
                <a:solidFill>
                  <a:srgbClr val="0F62FE"/>
                </a:solidFill>
                <a:latin typeface="Arial"/>
                <a:ea typeface="Arial"/>
                <a:cs typeface="Arial"/>
              </a:defRPr>
            </a:defPPr>
          </a:lstStyle>
          <a:p xmlns:a="http://schemas.openxmlformats.org/drawingml/2006/main">
            <a:pPr algn="l">
              <a:defRPr sz="3750" b="1">
                <a:solidFill>
                  <a:srgbClr val="0F62FE"/>
                </a:solidFill>
                <a:latin typeface="Arial"/>
                <a:ea typeface="Arial"/>
                <a:cs typeface="Arial"/>
              </a:defRPr>
            </a:pPr>
            <a:r>
              <a:rPr sz="3750" b="1">
                <a:solidFill>
                  <a:srgbClr val="0F62FE"/>
                </a:solidFill>
                <a:latin typeface="Arial"/>
                <a:ea typeface="Arial"/>
                <a:cs typeface="Arial"/>
              </a:rPr>
              <a:t>03</a:t>
            </a:r>
          </a:p>
        </p:txBody>
      </p:sp>
      <p:sp>
        <p:nvSpPr>
          <p:cNvPr id="13" name="problem-title-2">
            <a:extLst xmlns:a="http://schemas.openxmlformats.org/drawingml/2006/main">
              <a:ext uri="{FF2B5EF4-FFF2-40B4-BE49-F238E27FC236}">
                <a16:creationId xmlns:a16="http://schemas.microsoft.com/office/drawing/2014/main" id="{3086B179-85C7-4A40-9A73-593F188E8C85}"/>
              </a:ext>
            </a:extLst>
          </p:cNvPr>
          <p:cNvSpPr>
            <a:spLocks xmlns:a="http://schemas.openxmlformats.org/drawingml/2006/main" noGrp="1"/>
          </p:cNvSpPr>
          <p:nvPr/>
        </p:nvSpPr>
        <p:spPr>
          <a:xfrm xmlns:a="http://schemas.openxmlformats.org/drawingml/2006/main">
            <a:off x="8191500" y="3114675"/>
            <a:ext cx="3162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0B1728"/>
                </a:solidFill>
                <a:latin typeface="Arial"/>
                <a:ea typeface="Arial"/>
                <a:cs typeface="Arial"/>
              </a:defRPr>
            </a:defPPr>
          </a:lstStyle>
          <a:p xmlns:a="http://schemas.openxmlformats.org/drawingml/2006/main">
            <a:pPr algn="l">
              <a:defRPr sz="1800" b="1">
                <a:solidFill>
                  <a:srgbClr val="0B1728"/>
                </a:solidFill>
                <a:latin typeface="Arial"/>
                <a:ea typeface="Arial"/>
                <a:cs typeface="Arial"/>
              </a:defRPr>
            </a:pPr>
            <a:r>
              <a:rPr sz="1800" b="1">
                <a:solidFill>
                  <a:srgbClr val="0B1728"/>
                </a:solidFill>
                <a:latin typeface="Arial"/>
                <a:ea typeface="Arial"/>
                <a:cs typeface="Arial"/>
              </a:rPr>
              <a:t>Eksposur tersembunyi</a:t>
            </a:r>
          </a:p>
        </p:txBody>
      </p:sp>
      <p:sp>
        <p:nvSpPr>
          <p:cNvPr id="14" name="problem-copy-2">
            <a:extLst xmlns:a="http://schemas.openxmlformats.org/drawingml/2006/main">
              <a:ext uri="{FF2B5EF4-FFF2-40B4-BE49-F238E27FC236}">
                <a16:creationId xmlns:a16="http://schemas.microsoft.com/office/drawing/2014/main" id="{9FFEB89B-FA6B-46BF-9155-D69ADEF781E5}"/>
              </a:ext>
            </a:extLst>
          </p:cNvPr>
          <p:cNvSpPr>
            <a:spLocks xmlns:a="http://schemas.openxmlformats.org/drawingml/2006/main" noGrp="1"/>
          </p:cNvSpPr>
          <p:nvPr/>
        </p:nvSpPr>
        <p:spPr>
          <a:xfrm xmlns:a="http://schemas.openxmlformats.org/drawingml/2006/main">
            <a:off x="8191500" y="3638550"/>
            <a:ext cx="31623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26178"/>
                </a:solidFill>
                <a:latin typeface="Arial"/>
                <a:ea typeface="Arial"/>
                <a:cs typeface="Arial"/>
              </a:defRPr>
            </a:defPPr>
          </a:lstStyle>
          <a:p xmlns:a="http://schemas.openxmlformats.org/drawingml/2006/main">
            <a:pPr algn="l">
              <a:lnSpc>
                <a:spcPct val="112000"/>
              </a:lnSpc>
              <a:buNone/>
              <a:defRPr sz="1575" b="0">
                <a:solidFill>
                  <a:srgbClr val="526178"/>
                </a:solidFill>
                <a:latin typeface="Arial"/>
                <a:ea typeface="Arial"/>
                <a:cs typeface="Arial"/>
              </a:defRPr>
            </a:pPr>
            <a:r>
              <a:rPr sz="1575" b="0">
                <a:solidFill>
                  <a:srgbClr val="526178"/>
                </a:solidFill>
                <a:latin typeface="Arial"/>
                <a:ea typeface="Arial"/>
                <a:cs typeface="Arial"/>
              </a:rPr>
              <a:t>Dokumen kedaluwarsa, pembayaran bersyarat, dan denda tanpa batas dapat menambah risiko gugur atau beban kas. Anomali menjadi sinyal review, bukan bukti fraud.</a:t>
            </a:r>
          </a:p>
        </p:txBody>
      </p:sp>
      <p:sp>
        <p:nvSpPr>
          <p:cNvPr id="15" name="problem-divider-1">
            <a:extLst xmlns:a="http://schemas.openxmlformats.org/drawingml/2006/main">
              <a:ext uri="{FF2B5EF4-FFF2-40B4-BE49-F238E27FC236}">
                <a16:creationId xmlns:a16="http://schemas.microsoft.com/office/drawing/2014/main" id="{4EA3E5A8-FC13-4C98-984F-D81A9FC2DEEF}"/>
              </a:ext>
            </a:extLst>
          </p:cNvPr>
          <p:cNvSpPr>
            <a:spLocks xmlns:a="http://schemas.openxmlformats.org/drawingml/2006/main" noGrp="1"/>
          </p:cNvSpPr>
          <p:nvPr/>
        </p:nvSpPr>
        <p:spPr>
          <a:xfrm xmlns:a="http://schemas.openxmlformats.org/drawingml/2006/main">
            <a:off x="4095750" y="2438400"/>
            <a:ext cx="9525" cy="2857500"/>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16" name="problem-divider-2">
            <a:extLst xmlns:a="http://schemas.openxmlformats.org/drawingml/2006/main">
              <a:ext uri="{FF2B5EF4-FFF2-40B4-BE49-F238E27FC236}">
                <a16:creationId xmlns:a16="http://schemas.microsoft.com/office/drawing/2014/main" id="{B1D233B9-D3CA-44EA-8EE3-CE67A4276C27}"/>
              </a:ext>
            </a:extLst>
          </p:cNvPr>
          <p:cNvSpPr>
            <a:spLocks xmlns:a="http://schemas.openxmlformats.org/drawingml/2006/main" noGrp="1"/>
          </p:cNvSpPr>
          <p:nvPr/>
        </p:nvSpPr>
        <p:spPr>
          <a:xfrm xmlns:a="http://schemas.openxmlformats.org/drawingml/2006/main">
            <a:off x="7848600" y="2438400"/>
            <a:ext cx="9525" cy="2857500"/>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17" name="problem-close">
            <a:extLst xmlns:a="http://schemas.openxmlformats.org/drawingml/2006/main">
              <a:ext uri="{FF2B5EF4-FFF2-40B4-BE49-F238E27FC236}">
                <a16:creationId xmlns:a16="http://schemas.microsoft.com/office/drawing/2014/main" id="{AFD24B03-EABF-4BC6-82AD-53113922EF8D}"/>
              </a:ext>
            </a:extLst>
          </p:cNvPr>
          <p:cNvSpPr>
            <a:spLocks xmlns:a="http://schemas.openxmlformats.org/drawingml/2006/main" noGrp="1"/>
          </p:cNvSpPr>
          <p:nvPr/>
        </p:nvSpPr>
        <p:spPr>
          <a:xfrm xmlns:a="http://schemas.openxmlformats.org/drawingml/2006/main">
            <a:off x="685800" y="56578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0F62FE"/>
                </a:solidFill>
                <a:latin typeface="Arial"/>
                <a:ea typeface="Arial"/>
                <a:cs typeface="Arial"/>
              </a:defRPr>
            </a:defPPr>
          </a:lstStyle>
          <a:p xmlns:a="http://schemas.openxmlformats.org/drawingml/2006/main">
            <a:pPr algn="l">
              <a:defRPr sz="1575" b="1">
                <a:solidFill>
                  <a:srgbClr val="0F62FE"/>
                </a:solidFill>
                <a:latin typeface="Arial"/>
                <a:ea typeface="Arial"/>
                <a:cs typeface="Arial"/>
              </a:defRPr>
            </a:pPr>
            <a:r>
              <a:rPr sz="1575" b="1">
                <a:solidFill>
                  <a:srgbClr val="0F62FE"/>
                </a:solidFill>
                <a:latin typeface="Arial"/>
                <a:ea typeface="Arial"/>
                <a:cs typeface="Arial"/>
              </a:rPr>
              <a:t>BidSentry memeriksa sinyal berbasis dokumen. Verifikasi manusia menentukan respons.</a:t>
            </a:r>
          </a:p>
        </p:txBody>
      </p:sp>
    </p:spTree>
    <p:extLst>
      <p:ext uri="{BB962C8B-B14F-4D97-AF65-F5344CB8AC3E}">
        <p14:creationId xmlns:p14="http://schemas.microsoft.com/office/powerpoint/2010/main" val="2069765372"/>
      </p:ext>
    </p:extLst>
  </p:cSld>
</p:sld>
</file>

<file path=ppt/slides/slide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6" name="brand-mark">
            <a:extLst xmlns:a="http://schemas.openxmlformats.org/drawingml/2006/main">
              <a:ext uri="{FF2B5EF4-FFF2-40B4-BE49-F238E27FC236}">
                <a16:creationId xmlns:a16="http://schemas.microsoft.com/office/drawing/2014/main" id="{F73D78AD-37B8-4342-B266-B282C080D91E}"/>
              </a:ext>
            </a:extLst>
          </p:cNvPr>
          <p:cNvSpPr>
            <a:spLocks xmlns:a="http://schemas.openxmlformats.org/drawingml/2006/main" noGrp="1"/>
          </p:cNvSpPr>
          <p:nvPr/>
        </p:nvSpPr>
        <p:spPr>
          <a:xfrm xmlns:a="http://schemas.openxmlformats.org/drawingml/2006/main">
            <a:off x="685800" y="371475"/>
            <a:ext cx="47625" cy="171450"/>
          </a:xfrm>
          <a:prstGeom xmlns:a="http://schemas.openxmlformats.org/drawingml/2006/main" prst="rect">
            <a:avLst/>
          </a:prstGeom>
          <a:solidFill xmlns:a="http://schemas.openxmlformats.org/drawingml/2006/main">
            <a:srgbClr val="0F62FE"/>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6F81BF78-911A-4218-B22C-68E2EDFDBEAF}"/>
              </a:ext>
            </a:extLst>
          </p:cNvPr>
          <p:cNvSpPr>
            <a:spLocks xmlns:a="http://schemas.openxmlformats.org/drawingml/2006/main" noGrp="1"/>
          </p:cNvSpPr>
          <p:nvPr/>
        </p:nvSpPr>
        <p:spPr>
          <a:xfrm xmlns:a="http://schemas.openxmlformats.org/drawingml/2006/main">
            <a:off x="838200" y="361950"/>
            <a:ext cx="571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0F62FE"/>
                </a:solidFill>
                <a:latin typeface="Arial"/>
                <a:ea typeface="Arial"/>
                <a:cs typeface="Arial"/>
              </a:defRPr>
            </a:defPPr>
          </a:lstStyle>
          <a:p xmlns:a="http://schemas.openxmlformats.org/drawingml/2006/main">
            <a:pPr algn="l">
              <a:defRPr sz="1050" b="1">
                <a:solidFill>
                  <a:srgbClr val="0F62FE"/>
                </a:solidFill>
                <a:latin typeface="Arial"/>
                <a:ea typeface="Arial"/>
                <a:cs typeface="Arial"/>
              </a:defRPr>
            </a:pPr>
            <a:r>
              <a:rPr sz="1050" b="1">
                <a:solidFill>
                  <a:srgbClr val="0F62FE"/>
                </a:solidFill>
                <a:latin typeface="Arial"/>
                <a:ea typeface="Arial"/>
                <a:cs typeface="Arial"/>
              </a:rPr>
              <a:t>BIDSENTRY AI  /  IBM SKILLSBUILD 2026</a:t>
            </a:r>
          </a:p>
        </p:txBody>
      </p:sp>
      <p:sp>
        <p:nvSpPr>
          <p:cNvPr id="3" name="slide-title">
            <a:extLst xmlns:a="http://schemas.openxmlformats.org/drawingml/2006/main">
              <a:ext uri="{FF2B5EF4-FFF2-40B4-BE49-F238E27FC236}">
                <a16:creationId xmlns:a16="http://schemas.microsoft.com/office/drawing/2014/main" id="{1D81D11B-A602-4665-B745-ADCB02CF975B}"/>
              </a:ext>
            </a:extLst>
          </p:cNvPr>
          <p:cNvSpPr>
            <a:spLocks xmlns:a="http://schemas.openxmlformats.org/drawingml/2006/main" noGrp="1"/>
          </p:cNvSpPr>
          <p:nvPr/>
        </p:nvSpPr>
        <p:spPr>
          <a:xfrm xmlns:a="http://schemas.openxmlformats.org/drawingml/2006/main">
            <a:off x="685800" y="714375"/>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0B1728"/>
                </a:solidFill>
                <a:latin typeface="Arial"/>
                <a:ea typeface="Arial"/>
                <a:cs typeface="Arial"/>
              </a:defRPr>
            </a:defPPr>
          </a:lstStyle>
          <a:p xmlns:a="http://schemas.openxmlformats.org/drawingml/2006/main">
            <a:pPr algn="l">
              <a:lnSpc>
                <a:spcPct val="96000"/>
              </a:lnSpc>
              <a:buNone/>
              <a:defRPr sz="3000" b="1">
                <a:solidFill>
                  <a:srgbClr val="0B1728"/>
                </a:solidFill>
                <a:latin typeface="Arial"/>
                <a:ea typeface="Arial"/>
                <a:cs typeface="Arial"/>
              </a:defRPr>
            </a:pPr>
            <a:r>
              <a:rPr sz="3000" b="1">
                <a:solidFill>
                  <a:srgbClr val="0B1728"/>
                </a:solidFill>
                <a:latin typeface="Arial"/>
                <a:ea typeface="Arial"/>
                <a:cs typeface="Arial"/>
              </a:rPr>
              <a:t>Satu alur mengubah dokumen menjadi sinyal audit</a:t>
            </a:r>
          </a:p>
        </p:txBody>
      </p:sp>
      <p:sp>
        <p:nvSpPr>
          <p:cNvPr id="4" name="key-takeaway">
            <a:extLst xmlns:a="http://schemas.openxmlformats.org/drawingml/2006/main">
              <a:ext uri="{FF2B5EF4-FFF2-40B4-BE49-F238E27FC236}">
                <a16:creationId xmlns:a16="http://schemas.microsoft.com/office/drawing/2014/main" id="{D1AD5FD7-0DDE-4959-96B7-7C9E7B255F8A}"/>
              </a:ext>
            </a:extLst>
          </p:cNvPr>
          <p:cNvSpPr>
            <a:spLocks xmlns:a="http://schemas.openxmlformats.org/drawingml/2006/main" noGrp="1"/>
          </p:cNvSpPr>
          <p:nvPr/>
        </p:nvSpPr>
        <p:spPr>
          <a:xfrm xmlns:a="http://schemas.openxmlformats.org/drawingml/2006/main">
            <a:off x="685800" y="13144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2B4D"/>
                </a:solidFill>
                <a:latin typeface="Arial"/>
                <a:ea typeface="Arial"/>
                <a:cs typeface="Arial"/>
              </a:defRPr>
            </a:defPPr>
          </a:lstStyle>
          <a:p xmlns:a="http://schemas.openxmlformats.org/drawingml/2006/main">
            <a:pPr algn="l">
              <a:lnSpc>
                <a:spcPct val="100000"/>
              </a:lnSpc>
              <a:buNone/>
              <a:defRPr sz="1650" b="1">
                <a:solidFill>
                  <a:srgbClr val="172B4D"/>
                </a:solidFill>
                <a:latin typeface="Arial"/>
                <a:ea typeface="Arial"/>
                <a:cs typeface="Arial"/>
              </a:defRPr>
            </a:pPr>
            <a:r>
              <a:rPr sz="1650" b="1">
                <a:solidFill>
                  <a:srgbClr val="172B4D"/>
                </a:solidFill>
                <a:latin typeface="Arial"/>
                <a:ea typeface="Arial"/>
                <a:cs typeface="Arial"/>
              </a:rPr>
              <a:t>Temuan terhubung ke klausul, bukti, status, dan jalur review manusia.</a:t>
            </a:r>
          </a:p>
        </p:txBody>
      </p:sp>
      <p:sp>
        <p:nvSpPr>
          <p:cNvPr id="5" name="page-number">
            <a:extLst xmlns:a="http://schemas.openxmlformats.org/drawingml/2006/main">
              <a:ext uri="{FF2B5EF4-FFF2-40B4-BE49-F238E27FC236}">
                <a16:creationId xmlns:a16="http://schemas.microsoft.com/office/drawing/2014/main" id="{DC54D4A2-8C45-4D93-82B6-E2C5E38EB074}"/>
              </a:ext>
            </a:extLst>
          </p:cNvPr>
          <p:cNvSpPr>
            <a:spLocks xmlns:a="http://schemas.openxmlformats.org/drawingml/2006/main" noGrp="1"/>
          </p:cNvSpPr>
          <p:nvPr/>
        </p:nvSpPr>
        <p:spPr>
          <a:xfrm xmlns:a="http://schemas.openxmlformats.org/drawingml/2006/main">
            <a:off x="10668000" y="64770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0">
                <a:solidFill>
                  <a:srgbClr val="526178"/>
                </a:solidFill>
                <a:latin typeface="Arial"/>
                <a:ea typeface="Arial"/>
                <a:cs typeface="Arial"/>
              </a:defRPr>
            </a:defPPr>
          </a:lstStyle>
          <a:p xmlns:a="http://schemas.openxmlformats.org/drawingml/2006/main">
            <a:pPr algn="r">
              <a:defRPr sz="975" b="0">
                <a:solidFill>
                  <a:srgbClr val="526178"/>
                </a:solidFill>
                <a:latin typeface="Arial"/>
                <a:ea typeface="Arial"/>
                <a:cs typeface="Arial"/>
              </a:defRPr>
            </a:pPr>
            <a:r>
              <a:rPr sz="975" b="0">
                <a:solidFill>
                  <a:srgbClr val="526178"/>
                </a:solidFill>
                <a:latin typeface="Arial"/>
                <a:ea typeface="Arial"/>
                <a:cs typeface="Arial"/>
              </a:rPr>
              <a:t>03 / 10</a:t>
            </a:r>
          </a:p>
        </p:txBody>
      </p:sp>
      <p:sp>
        <p:nvSpPr>
          <p:cNvPr id="6" name="step-1-box">
            <a:extLst xmlns:a="http://schemas.openxmlformats.org/drawingml/2006/main">
              <a:ext uri="{FF2B5EF4-FFF2-40B4-BE49-F238E27FC236}">
                <a16:creationId xmlns:a16="http://schemas.microsoft.com/office/drawing/2014/main" id="{B08868B5-5439-4BB3-9B66-F2C5452DD948}"/>
              </a:ext>
            </a:extLst>
          </p:cNvPr>
          <p:cNvSpPr>
            <a:spLocks xmlns:a="http://schemas.openxmlformats.org/drawingml/2006/main" noGrp="1"/>
          </p:cNvSpPr>
          <p:nvPr/>
        </p:nvSpPr>
        <p:spPr>
          <a:xfrm xmlns:a="http://schemas.openxmlformats.org/drawingml/2006/main">
            <a:off x="685800" y="2571750"/>
            <a:ext cx="228600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AFC7E8"/>
            </a:solidFill>
            <a:prstDash val="solid"/>
          </a:ln>
        </p:spPr>
      </p:sp>
      <p:sp>
        <p:nvSpPr>
          <p:cNvPr id="7" name="step-1-eyebrow">
            <a:extLst xmlns:a="http://schemas.openxmlformats.org/drawingml/2006/main">
              <a:ext uri="{FF2B5EF4-FFF2-40B4-BE49-F238E27FC236}">
                <a16:creationId xmlns:a16="http://schemas.microsoft.com/office/drawing/2014/main" id="{4C5DA72B-B2B3-4CFC-9B67-8940601221CE}"/>
              </a:ext>
            </a:extLst>
          </p:cNvPr>
          <p:cNvSpPr>
            <a:spLocks xmlns:a="http://schemas.openxmlformats.org/drawingml/2006/main" noGrp="1"/>
          </p:cNvSpPr>
          <p:nvPr/>
        </p:nvSpPr>
        <p:spPr>
          <a:xfrm xmlns:a="http://schemas.openxmlformats.org/drawingml/2006/main">
            <a:off x="857250" y="2714625"/>
            <a:ext cx="1943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1">
                <a:solidFill>
                  <a:srgbClr val="0F62FE"/>
                </a:solidFill>
                <a:latin typeface="Arial"/>
                <a:ea typeface="Arial"/>
                <a:cs typeface="Arial"/>
              </a:defRPr>
            </a:defPPr>
          </a:lstStyle>
          <a:p xmlns:a="http://schemas.openxmlformats.org/drawingml/2006/main">
            <a:pPr algn="l">
              <a:defRPr sz="975" b="1">
                <a:solidFill>
                  <a:srgbClr val="0F62FE"/>
                </a:solidFill>
                <a:latin typeface="Arial"/>
                <a:ea typeface="Arial"/>
                <a:cs typeface="Arial"/>
              </a:defRPr>
            </a:pPr>
            <a:r>
              <a:rPr sz="975" b="1">
                <a:solidFill>
                  <a:srgbClr val="0F62FE"/>
                </a:solidFill>
                <a:latin typeface="Arial"/>
                <a:ea typeface="Arial"/>
                <a:cs typeface="Arial"/>
              </a:rPr>
              <a:t>01  INPUT</a:t>
            </a:r>
          </a:p>
        </p:txBody>
      </p:sp>
      <p:sp>
        <p:nvSpPr>
          <p:cNvPr id="8" name="step-1-title">
            <a:extLst xmlns:a="http://schemas.openxmlformats.org/drawingml/2006/main">
              <a:ext uri="{FF2B5EF4-FFF2-40B4-BE49-F238E27FC236}">
                <a16:creationId xmlns:a16="http://schemas.microsoft.com/office/drawing/2014/main" id="{C03C9892-B353-4CB8-AC54-A8BDC4F1382D}"/>
              </a:ext>
            </a:extLst>
          </p:cNvPr>
          <p:cNvSpPr>
            <a:spLocks xmlns:a="http://schemas.openxmlformats.org/drawingml/2006/main" noGrp="1"/>
          </p:cNvSpPr>
          <p:nvPr/>
        </p:nvSpPr>
        <p:spPr>
          <a:xfrm xmlns:a="http://schemas.openxmlformats.org/drawingml/2006/main">
            <a:off x="857250" y="2981325"/>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Dokumen</a:t>
            </a:r>
          </a:p>
        </p:txBody>
      </p:sp>
      <p:sp>
        <p:nvSpPr>
          <p:cNvPr id="9" name="step-1-copy">
            <a:extLst xmlns:a="http://schemas.openxmlformats.org/drawingml/2006/main">
              <a:ext uri="{FF2B5EF4-FFF2-40B4-BE49-F238E27FC236}">
                <a16:creationId xmlns:a16="http://schemas.microsoft.com/office/drawing/2014/main" id="{5221DC5D-FB58-473E-81F2-684171D87854}"/>
              </a:ext>
            </a:extLst>
          </p:cNvPr>
          <p:cNvSpPr>
            <a:spLocks xmlns:a="http://schemas.openxmlformats.org/drawingml/2006/main" noGrp="1"/>
          </p:cNvSpPr>
          <p:nvPr/>
        </p:nvSpPr>
        <p:spPr>
          <a:xfrm xmlns:a="http://schemas.openxmlformats.org/drawingml/2006/main">
            <a:off x="857250" y="3362325"/>
            <a:ext cx="19431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RKS/KAK, adendum, dan bukti kredensial.</a:t>
            </a:r>
          </a:p>
        </p:txBody>
      </p:sp>
      <p:sp>
        <p:nvSpPr>
          <p:cNvPr id="10" name="step-2-box">
            <a:extLst xmlns:a="http://schemas.openxmlformats.org/drawingml/2006/main">
              <a:ext uri="{FF2B5EF4-FFF2-40B4-BE49-F238E27FC236}">
                <a16:creationId xmlns:a16="http://schemas.microsoft.com/office/drawing/2014/main" id="{82573C93-6DEC-4206-973A-9456C9B60606}"/>
              </a:ext>
            </a:extLst>
          </p:cNvPr>
          <p:cNvSpPr>
            <a:spLocks xmlns:a="http://schemas.openxmlformats.org/drawingml/2006/main" noGrp="1"/>
          </p:cNvSpPr>
          <p:nvPr/>
        </p:nvSpPr>
        <p:spPr>
          <a:xfrm xmlns:a="http://schemas.openxmlformats.org/drawingml/2006/main">
            <a:off x="3524250" y="2571750"/>
            <a:ext cx="228600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AFC7E8"/>
            </a:solidFill>
            <a:prstDash val="solid"/>
          </a:ln>
        </p:spPr>
      </p:sp>
      <p:sp>
        <p:nvSpPr>
          <p:cNvPr id="11" name="step-2-eyebrow">
            <a:extLst xmlns:a="http://schemas.openxmlformats.org/drawingml/2006/main">
              <a:ext uri="{FF2B5EF4-FFF2-40B4-BE49-F238E27FC236}">
                <a16:creationId xmlns:a16="http://schemas.microsoft.com/office/drawing/2014/main" id="{10BA70C8-FD22-4E9E-A8A3-96CD584CA00A}"/>
              </a:ext>
            </a:extLst>
          </p:cNvPr>
          <p:cNvSpPr>
            <a:spLocks xmlns:a="http://schemas.openxmlformats.org/drawingml/2006/main" noGrp="1"/>
          </p:cNvSpPr>
          <p:nvPr/>
        </p:nvSpPr>
        <p:spPr>
          <a:xfrm xmlns:a="http://schemas.openxmlformats.org/drawingml/2006/main">
            <a:off x="3695700" y="2714625"/>
            <a:ext cx="1943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1">
                <a:solidFill>
                  <a:srgbClr val="0F62FE"/>
                </a:solidFill>
                <a:latin typeface="Arial"/>
                <a:ea typeface="Arial"/>
                <a:cs typeface="Arial"/>
              </a:defRPr>
            </a:defPPr>
          </a:lstStyle>
          <a:p xmlns:a="http://schemas.openxmlformats.org/drawingml/2006/main">
            <a:pPr algn="l">
              <a:defRPr sz="975" b="1">
                <a:solidFill>
                  <a:srgbClr val="0F62FE"/>
                </a:solidFill>
                <a:latin typeface="Arial"/>
                <a:ea typeface="Arial"/>
                <a:cs typeface="Arial"/>
              </a:defRPr>
            </a:pPr>
            <a:r>
              <a:rPr sz="975" b="1">
                <a:solidFill>
                  <a:srgbClr val="0F62FE"/>
                </a:solidFill>
                <a:latin typeface="Arial"/>
                <a:ea typeface="Arial"/>
                <a:cs typeface="Arial"/>
              </a:rPr>
              <a:t>02  RULES LOKAL</a:t>
            </a:r>
          </a:p>
        </p:txBody>
      </p:sp>
      <p:sp>
        <p:nvSpPr>
          <p:cNvPr id="12" name="step-2-title">
            <a:extLst xmlns:a="http://schemas.openxmlformats.org/drawingml/2006/main">
              <a:ext uri="{FF2B5EF4-FFF2-40B4-BE49-F238E27FC236}">
                <a16:creationId xmlns:a16="http://schemas.microsoft.com/office/drawing/2014/main" id="{B8A9565B-D620-4BD9-92EC-BA884C4C76CE}"/>
              </a:ext>
            </a:extLst>
          </p:cNvPr>
          <p:cNvSpPr>
            <a:spLocks xmlns:a="http://schemas.openxmlformats.org/drawingml/2006/main" noGrp="1"/>
          </p:cNvSpPr>
          <p:nvPr/>
        </p:nvSpPr>
        <p:spPr>
          <a:xfrm xmlns:a="http://schemas.openxmlformats.org/drawingml/2006/main">
            <a:off x="3695700" y="2981325"/>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Pencocokan</a:t>
            </a:r>
          </a:p>
        </p:txBody>
      </p:sp>
      <p:sp>
        <p:nvSpPr>
          <p:cNvPr id="13" name="step-2-copy">
            <a:extLst xmlns:a="http://schemas.openxmlformats.org/drawingml/2006/main">
              <a:ext uri="{FF2B5EF4-FFF2-40B4-BE49-F238E27FC236}">
                <a16:creationId xmlns:a16="http://schemas.microsoft.com/office/drawing/2014/main" id="{44EB9838-9736-45E8-9011-B95D81ED8523}"/>
              </a:ext>
            </a:extLst>
          </p:cNvPr>
          <p:cNvSpPr>
            <a:spLocks xmlns:a="http://schemas.openxmlformats.org/drawingml/2006/main" noGrp="1"/>
          </p:cNvSpPr>
          <p:nvPr/>
        </p:nvSpPr>
        <p:spPr>
          <a:xfrm xmlns:a="http://schemas.openxmlformats.org/drawingml/2006/main">
            <a:off x="3695700" y="3362325"/>
            <a:ext cx="19431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Aturan kata kunci mengelompokkan klausul dan baris bukti.</a:t>
            </a:r>
          </a:p>
        </p:txBody>
      </p:sp>
      <p:sp>
        <p:nvSpPr>
          <p:cNvPr id="14" name="step-3-box">
            <a:extLst xmlns:a="http://schemas.openxmlformats.org/drawingml/2006/main">
              <a:ext uri="{FF2B5EF4-FFF2-40B4-BE49-F238E27FC236}">
                <a16:creationId xmlns:a16="http://schemas.microsoft.com/office/drawing/2014/main" id="{01AC2FA4-1E6C-4AD0-8BBD-D061598836FF}"/>
              </a:ext>
            </a:extLst>
          </p:cNvPr>
          <p:cNvSpPr>
            <a:spLocks xmlns:a="http://schemas.openxmlformats.org/drawingml/2006/main" noGrp="1"/>
          </p:cNvSpPr>
          <p:nvPr/>
        </p:nvSpPr>
        <p:spPr>
          <a:xfrm xmlns:a="http://schemas.openxmlformats.org/drawingml/2006/main">
            <a:off x="6362700" y="2571750"/>
            <a:ext cx="2286000" cy="2095500"/>
          </a:xfrm>
          <a:prstGeom xmlns:a="http://schemas.openxmlformats.org/drawingml/2006/main" prst="rect">
            <a:avLst/>
          </a:prstGeom>
          <a:solidFill xmlns:a="http://schemas.openxmlformats.org/drawingml/2006/main">
            <a:srgbClr val="FFF7E0"/>
          </a:solidFill>
          <a:ln xmlns:a="http://schemas.openxmlformats.org/drawingml/2006/main" w="9525">
            <a:solidFill>
              <a:srgbClr val="E7C873"/>
            </a:solidFill>
            <a:prstDash val="solid"/>
          </a:ln>
        </p:spPr>
      </p:sp>
      <p:sp>
        <p:nvSpPr>
          <p:cNvPr id="15" name="step-3-eyebrow">
            <a:extLst xmlns:a="http://schemas.openxmlformats.org/drawingml/2006/main">
              <a:ext uri="{FF2B5EF4-FFF2-40B4-BE49-F238E27FC236}">
                <a16:creationId xmlns:a16="http://schemas.microsoft.com/office/drawing/2014/main" id="{E27A2251-026E-40DB-B1E4-20DA85F271FB}"/>
              </a:ext>
            </a:extLst>
          </p:cNvPr>
          <p:cNvSpPr>
            <a:spLocks xmlns:a="http://schemas.openxmlformats.org/drawingml/2006/main" noGrp="1"/>
          </p:cNvSpPr>
          <p:nvPr/>
        </p:nvSpPr>
        <p:spPr>
          <a:xfrm xmlns:a="http://schemas.openxmlformats.org/drawingml/2006/main">
            <a:off x="6534150" y="2714625"/>
            <a:ext cx="1943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1">
                <a:solidFill>
                  <a:srgbClr val="0F62FE"/>
                </a:solidFill>
                <a:latin typeface="Arial"/>
                <a:ea typeface="Arial"/>
                <a:cs typeface="Arial"/>
              </a:defRPr>
            </a:defPPr>
          </a:lstStyle>
          <a:p xmlns:a="http://schemas.openxmlformats.org/drawingml/2006/main">
            <a:pPr algn="l">
              <a:defRPr sz="975" b="1">
                <a:solidFill>
                  <a:srgbClr val="0F62FE"/>
                </a:solidFill>
                <a:latin typeface="Arial"/>
                <a:ea typeface="Arial"/>
                <a:cs typeface="Arial"/>
              </a:defRPr>
            </a:pPr>
            <a:r>
              <a:rPr sz="975" b="1">
                <a:solidFill>
                  <a:srgbClr val="0F62FE"/>
                </a:solidFill>
                <a:latin typeface="Arial"/>
                <a:ea typeface="Arial"/>
                <a:cs typeface="Arial"/>
              </a:rPr>
              <a:t>03  HASIL</a:t>
            </a:r>
          </a:p>
        </p:txBody>
      </p:sp>
      <p:sp>
        <p:nvSpPr>
          <p:cNvPr id="16" name="step-3-title">
            <a:extLst xmlns:a="http://schemas.openxmlformats.org/drawingml/2006/main">
              <a:ext uri="{FF2B5EF4-FFF2-40B4-BE49-F238E27FC236}">
                <a16:creationId xmlns:a16="http://schemas.microsoft.com/office/drawing/2014/main" id="{F1FB72C7-ED11-44C8-98D4-BB9644481983}"/>
              </a:ext>
            </a:extLst>
          </p:cNvPr>
          <p:cNvSpPr>
            <a:spLocks xmlns:a="http://schemas.openxmlformats.org/drawingml/2006/main" noGrp="1"/>
          </p:cNvSpPr>
          <p:nvPr/>
        </p:nvSpPr>
        <p:spPr>
          <a:xfrm xmlns:a="http://schemas.openxmlformats.org/drawingml/2006/main">
            <a:off x="6534150" y="2981325"/>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Matriks audit</a:t>
            </a:r>
          </a:p>
        </p:txBody>
      </p:sp>
      <p:sp>
        <p:nvSpPr>
          <p:cNvPr id="17" name="step-3-copy">
            <a:extLst xmlns:a="http://schemas.openxmlformats.org/drawingml/2006/main">
              <a:ext uri="{FF2B5EF4-FFF2-40B4-BE49-F238E27FC236}">
                <a16:creationId xmlns:a16="http://schemas.microsoft.com/office/drawing/2014/main" id="{158C4F42-0117-4F2D-B66E-223EEBD16FE7}"/>
              </a:ext>
            </a:extLst>
          </p:cNvPr>
          <p:cNvSpPr>
            <a:spLocks xmlns:a="http://schemas.openxmlformats.org/drawingml/2006/main" noGrp="1"/>
          </p:cNvSpPr>
          <p:nvPr/>
        </p:nvSpPr>
        <p:spPr>
          <a:xfrm xmlns:a="http://schemas.openxmlformats.org/drawingml/2006/main">
            <a:off x="6534150" y="3362325"/>
            <a:ext cx="19431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Status terpenuhi, GAP, expiring, atau superseded.</a:t>
            </a:r>
          </a:p>
        </p:txBody>
      </p:sp>
      <p:sp>
        <p:nvSpPr>
          <p:cNvPr id="18" name="step-4-box">
            <a:extLst xmlns:a="http://schemas.openxmlformats.org/drawingml/2006/main">
              <a:ext uri="{FF2B5EF4-FFF2-40B4-BE49-F238E27FC236}">
                <a16:creationId xmlns:a16="http://schemas.microsoft.com/office/drawing/2014/main" id="{E9E12C95-DA56-47D1-A93B-A696B9B0B99E}"/>
              </a:ext>
            </a:extLst>
          </p:cNvPr>
          <p:cNvSpPr>
            <a:spLocks xmlns:a="http://schemas.openxmlformats.org/drawingml/2006/main" noGrp="1"/>
          </p:cNvSpPr>
          <p:nvPr/>
        </p:nvSpPr>
        <p:spPr>
          <a:xfrm xmlns:a="http://schemas.openxmlformats.org/drawingml/2006/main">
            <a:off x="9201150" y="2571750"/>
            <a:ext cx="2286000" cy="2095500"/>
          </a:xfrm>
          <a:prstGeom xmlns:a="http://schemas.openxmlformats.org/drawingml/2006/main" prst="rect">
            <a:avLst/>
          </a:prstGeom>
          <a:solidFill xmlns:a="http://schemas.openxmlformats.org/drawingml/2006/main">
            <a:srgbClr val="FFF1F1"/>
          </a:solidFill>
          <a:ln xmlns:a="http://schemas.openxmlformats.org/drawingml/2006/main" w="9525">
            <a:solidFill>
              <a:srgbClr val="E9A3A3"/>
            </a:solidFill>
            <a:prstDash val="solid"/>
          </a:ln>
        </p:spPr>
      </p:sp>
      <p:sp>
        <p:nvSpPr>
          <p:cNvPr id="19" name="step-4-eyebrow">
            <a:extLst xmlns:a="http://schemas.openxmlformats.org/drawingml/2006/main">
              <a:ext uri="{FF2B5EF4-FFF2-40B4-BE49-F238E27FC236}">
                <a16:creationId xmlns:a16="http://schemas.microsoft.com/office/drawing/2014/main" id="{6F935B91-8955-4AEA-8906-3F405AC224FB}"/>
              </a:ext>
            </a:extLst>
          </p:cNvPr>
          <p:cNvSpPr>
            <a:spLocks xmlns:a="http://schemas.openxmlformats.org/drawingml/2006/main" noGrp="1"/>
          </p:cNvSpPr>
          <p:nvPr/>
        </p:nvSpPr>
        <p:spPr>
          <a:xfrm xmlns:a="http://schemas.openxmlformats.org/drawingml/2006/main">
            <a:off x="9372600" y="2714625"/>
            <a:ext cx="1943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1">
                <a:solidFill>
                  <a:srgbClr val="DA1E28"/>
                </a:solidFill>
                <a:latin typeface="Arial"/>
                <a:ea typeface="Arial"/>
                <a:cs typeface="Arial"/>
              </a:defRPr>
            </a:defPPr>
          </a:lstStyle>
          <a:p xmlns:a="http://schemas.openxmlformats.org/drawingml/2006/main">
            <a:pPr algn="l">
              <a:defRPr sz="975" b="1">
                <a:solidFill>
                  <a:srgbClr val="DA1E28"/>
                </a:solidFill>
                <a:latin typeface="Arial"/>
                <a:ea typeface="Arial"/>
                <a:cs typeface="Arial"/>
              </a:defRPr>
            </a:pPr>
            <a:r>
              <a:rPr sz="975" b="1">
                <a:solidFill>
                  <a:srgbClr val="DA1E28"/>
                </a:solidFill>
                <a:latin typeface="Arial"/>
                <a:ea typeface="Arial"/>
                <a:cs typeface="Arial"/>
              </a:rPr>
              <a:t>04  HUMAN REVIEW</a:t>
            </a:r>
          </a:p>
        </p:txBody>
      </p:sp>
      <p:sp>
        <p:nvSpPr>
          <p:cNvPr id="20" name="step-4-title">
            <a:extLst xmlns:a="http://schemas.openxmlformats.org/drawingml/2006/main">
              <a:ext uri="{FF2B5EF4-FFF2-40B4-BE49-F238E27FC236}">
                <a16:creationId xmlns:a16="http://schemas.microsoft.com/office/drawing/2014/main" id="{CDC2E266-84F3-4C5D-BEF6-D570BA84D9C6}"/>
              </a:ext>
            </a:extLst>
          </p:cNvPr>
          <p:cNvSpPr>
            <a:spLocks xmlns:a="http://schemas.openxmlformats.org/drawingml/2006/main" noGrp="1"/>
          </p:cNvSpPr>
          <p:nvPr/>
        </p:nvSpPr>
        <p:spPr>
          <a:xfrm xmlns:a="http://schemas.openxmlformats.org/drawingml/2006/main">
            <a:off x="9372600" y="2981325"/>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Tindak lanjut</a:t>
            </a:r>
          </a:p>
        </p:txBody>
      </p:sp>
      <p:sp>
        <p:nvSpPr>
          <p:cNvPr id="21" name="step-4-copy">
            <a:extLst xmlns:a="http://schemas.openxmlformats.org/drawingml/2006/main">
              <a:ext uri="{FF2B5EF4-FFF2-40B4-BE49-F238E27FC236}">
                <a16:creationId xmlns:a16="http://schemas.microsoft.com/office/drawing/2014/main" id="{E114A361-A283-4E79-BDFE-5E63A9CCEF18}"/>
              </a:ext>
            </a:extLst>
          </p:cNvPr>
          <p:cNvSpPr>
            <a:spLocks xmlns:a="http://schemas.openxmlformats.org/drawingml/2006/main" noGrp="1"/>
          </p:cNvSpPr>
          <p:nvPr/>
        </p:nvSpPr>
        <p:spPr>
          <a:xfrm xmlns:a="http://schemas.openxmlformats.org/drawingml/2006/main">
            <a:off x="9372600" y="3362325"/>
            <a:ext cx="19431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Lengkapi dokumen, klarifikasi, atau minta review legal.</a:t>
            </a:r>
          </a:p>
        </p:txBody>
      </p:sp>
      <p:sp>
        <p:nvSpPr>
          <p:cNvPr id="22" name="step-link-0">
            <a:extLst xmlns:a="http://schemas.openxmlformats.org/drawingml/2006/main">
              <a:ext uri="{FF2B5EF4-FFF2-40B4-BE49-F238E27FC236}">
                <a16:creationId xmlns:a16="http://schemas.microsoft.com/office/drawing/2014/main" id="{F7EDFF98-FB26-4296-99AF-6432DEB0BE7A}"/>
              </a:ext>
            </a:extLst>
          </p:cNvPr>
          <p:cNvSpPr>
            <a:spLocks xmlns:a="http://schemas.openxmlformats.org/drawingml/2006/main" noGrp="1"/>
          </p:cNvSpPr>
          <p:nvPr/>
        </p:nvSpPr>
        <p:spPr>
          <a:xfrm xmlns:a="http://schemas.openxmlformats.org/drawingml/2006/main">
            <a:off x="3086100" y="3600450"/>
            <a:ext cx="552450" cy="38100"/>
          </a:xfrm>
          <a:prstGeom xmlns:a="http://schemas.openxmlformats.org/drawingml/2006/main" prst="rect">
            <a:avLst/>
          </a:prstGeom>
          <a:solidFill xmlns:a="http://schemas.openxmlformats.org/drawingml/2006/main">
            <a:srgbClr val="4589FF"/>
          </a:solidFill>
          <a:ln xmlns:a="http://schemas.openxmlformats.org/drawingml/2006/main" w="0">
            <a:noFill/>
            <a:prstDash val="solid"/>
          </a:ln>
        </p:spPr>
      </p:sp>
      <p:sp>
        <p:nvSpPr>
          <p:cNvPr id="23" name="step-link-1">
            <a:extLst xmlns:a="http://schemas.openxmlformats.org/drawingml/2006/main">
              <a:ext uri="{FF2B5EF4-FFF2-40B4-BE49-F238E27FC236}">
                <a16:creationId xmlns:a16="http://schemas.microsoft.com/office/drawing/2014/main" id="{F47CEF6C-E6B3-432E-B1D9-90A014ED070B}"/>
              </a:ext>
            </a:extLst>
          </p:cNvPr>
          <p:cNvSpPr>
            <a:spLocks xmlns:a="http://schemas.openxmlformats.org/drawingml/2006/main" noGrp="1"/>
          </p:cNvSpPr>
          <p:nvPr/>
        </p:nvSpPr>
        <p:spPr>
          <a:xfrm xmlns:a="http://schemas.openxmlformats.org/drawingml/2006/main">
            <a:off x="5924550" y="3600450"/>
            <a:ext cx="552450" cy="38100"/>
          </a:xfrm>
          <a:prstGeom xmlns:a="http://schemas.openxmlformats.org/drawingml/2006/main" prst="rect">
            <a:avLst/>
          </a:prstGeom>
          <a:solidFill xmlns:a="http://schemas.openxmlformats.org/drawingml/2006/main">
            <a:srgbClr val="4589FF"/>
          </a:solidFill>
          <a:ln xmlns:a="http://schemas.openxmlformats.org/drawingml/2006/main" w="0">
            <a:noFill/>
            <a:prstDash val="solid"/>
          </a:ln>
        </p:spPr>
      </p:sp>
      <p:sp>
        <p:nvSpPr>
          <p:cNvPr id="24" name="step-link-2">
            <a:extLst xmlns:a="http://schemas.openxmlformats.org/drawingml/2006/main">
              <a:ext uri="{FF2B5EF4-FFF2-40B4-BE49-F238E27FC236}">
                <a16:creationId xmlns:a16="http://schemas.microsoft.com/office/drawing/2014/main" id="{A621B053-C0F0-4220-8E1E-24A576F83F2B}"/>
              </a:ext>
            </a:extLst>
          </p:cNvPr>
          <p:cNvSpPr>
            <a:spLocks xmlns:a="http://schemas.openxmlformats.org/drawingml/2006/main" noGrp="1"/>
          </p:cNvSpPr>
          <p:nvPr/>
        </p:nvSpPr>
        <p:spPr>
          <a:xfrm xmlns:a="http://schemas.openxmlformats.org/drawingml/2006/main">
            <a:off x="8763000" y="3600450"/>
            <a:ext cx="552450" cy="38100"/>
          </a:xfrm>
          <a:prstGeom xmlns:a="http://schemas.openxmlformats.org/drawingml/2006/main" prst="rect">
            <a:avLst/>
          </a:prstGeom>
          <a:solidFill xmlns:a="http://schemas.openxmlformats.org/drawingml/2006/main">
            <a:srgbClr val="4589FF"/>
          </a:solidFill>
          <a:ln xmlns:a="http://schemas.openxmlformats.org/drawingml/2006/main" w="0">
            <a:noFill/>
            <a:prstDash val="solid"/>
          </a:ln>
        </p:spPr>
      </p:sp>
      <p:sp>
        <p:nvSpPr>
          <p:cNvPr id="25" name="solution-value">
            <a:extLst xmlns:a="http://schemas.openxmlformats.org/drawingml/2006/main">
              <a:ext uri="{FF2B5EF4-FFF2-40B4-BE49-F238E27FC236}">
                <a16:creationId xmlns:a16="http://schemas.microsoft.com/office/drawing/2014/main" id="{D7B8DB13-8C9F-4DD7-A3EC-3084F6040519}"/>
              </a:ext>
            </a:extLst>
          </p:cNvPr>
          <p:cNvSpPr>
            <a:spLocks xmlns:a="http://schemas.openxmlformats.org/drawingml/2006/main" noGrp="1"/>
          </p:cNvSpPr>
          <p:nvPr/>
        </p:nvSpPr>
        <p:spPr>
          <a:xfrm xmlns:a="http://schemas.openxmlformats.org/drawingml/2006/main">
            <a:off x="685800" y="5219700"/>
            <a:ext cx="10744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Nilai bagi reviewer: lebih mudah menemukan gap, melihat dasar temuan, dan memilih tindakan berikutnya.</a:t>
            </a:r>
          </a:p>
        </p:txBody>
      </p:sp>
    </p:spTree>
    <p:extLst>
      <p:ext uri="{BB962C8B-B14F-4D97-AF65-F5344CB8AC3E}">
        <p14:creationId xmlns:p14="http://schemas.microsoft.com/office/powerpoint/2010/main" val="390425560"/>
      </p:ext>
    </p:extLst>
  </p:cSld>
</p:sld>
</file>

<file path=ppt/slides/slide4.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9" name="brand-mark">
            <a:extLst xmlns:a="http://schemas.openxmlformats.org/drawingml/2006/main">
              <a:ext uri="{FF2B5EF4-FFF2-40B4-BE49-F238E27FC236}">
                <a16:creationId xmlns:a16="http://schemas.microsoft.com/office/drawing/2014/main" id="{72BB6B5F-588E-4A1C-BE5B-EA35A6601ADB}"/>
              </a:ext>
            </a:extLst>
          </p:cNvPr>
          <p:cNvSpPr>
            <a:spLocks xmlns:a="http://schemas.openxmlformats.org/drawingml/2006/main" noGrp="1"/>
          </p:cNvSpPr>
          <p:nvPr/>
        </p:nvSpPr>
        <p:spPr>
          <a:xfrm xmlns:a="http://schemas.openxmlformats.org/drawingml/2006/main">
            <a:off x="685800" y="371475"/>
            <a:ext cx="47625" cy="171450"/>
          </a:xfrm>
          <a:prstGeom xmlns:a="http://schemas.openxmlformats.org/drawingml/2006/main" prst="rect">
            <a:avLst/>
          </a:prstGeom>
          <a:solidFill xmlns:a="http://schemas.openxmlformats.org/drawingml/2006/main">
            <a:srgbClr val="0F62FE"/>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F25C9FB6-4379-41E2-BD80-16E3401F8698}"/>
              </a:ext>
            </a:extLst>
          </p:cNvPr>
          <p:cNvSpPr>
            <a:spLocks xmlns:a="http://schemas.openxmlformats.org/drawingml/2006/main" noGrp="1"/>
          </p:cNvSpPr>
          <p:nvPr/>
        </p:nvSpPr>
        <p:spPr>
          <a:xfrm xmlns:a="http://schemas.openxmlformats.org/drawingml/2006/main">
            <a:off x="838200" y="361950"/>
            <a:ext cx="571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0F62FE"/>
                </a:solidFill>
                <a:latin typeface="Arial"/>
                <a:ea typeface="Arial"/>
                <a:cs typeface="Arial"/>
              </a:defRPr>
            </a:defPPr>
          </a:lstStyle>
          <a:p xmlns:a="http://schemas.openxmlformats.org/drawingml/2006/main">
            <a:pPr algn="l">
              <a:defRPr sz="1050" b="1">
                <a:solidFill>
                  <a:srgbClr val="0F62FE"/>
                </a:solidFill>
                <a:latin typeface="Arial"/>
                <a:ea typeface="Arial"/>
                <a:cs typeface="Arial"/>
              </a:defRPr>
            </a:pPr>
            <a:r>
              <a:rPr sz="1050" b="1">
                <a:solidFill>
                  <a:srgbClr val="0F62FE"/>
                </a:solidFill>
                <a:latin typeface="Arial"/>
                <a:ea typeface="Arial"/>
                <a:cs typeface="Arial"/>
              </a:rPr>
              <a:t>BIDSENTRY AI  /  IBM SKILLSBUILD 2026</a:t>
            </a:r>
          </a:p>
        </p:txBody>
      </p:sp>
      <p:sp>
        <p:nvSpPr>
          <p:cNvPr id="3" name="slide-title">
            <a:extLst xmlns:a="http://schemas.openxmlformats.org/drawingml/2006/main">
              <a:ext uri="{FF2B5EF4-FFF2-40B4-BE49-F238E27FC236}">
                <a16:creationId xmlns:a16="http://schemas.microsoft.com/office/drawing/2014/main" id="{AD5F1E60-2B64-42C8-AE27-6D39D5837D40}"/>
              </a:ext>
            </a:extLst>
          </p:cNvPr>
          <p:cNvSpPr>
            <a:spLocks xmlns:a="http://schemas.openxmlformats.org/drawingml/2006/main" noGrp="1"/>
          </p:cNvSpPr>
          <p:nvPr/>
        </p:nvSpPr>
        <p:spPr>
          <a:xfrm xmlns:a="http://schemas.openxmlformats.org/drawingml/2006/main">
            <a:off x="685800" y="714375"/>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0B1728"/>
                </a:solidFill>
                <a:latin typeface="Arial"/>
                <a:ea typeface="Arial"/>
                <a:cs typeface="Arial"/>
              </a:defRPr>
            </a:defPPr>
          </a:lstStyle>
          <a:p xmlns:a="http://schemas.openxmlformats.org/drawingml/2006/main">
            <a:pPr algn="l">
              <a:lnSpc>
                <a:spcPct val="96000"/>
              </a:lnSpc>
              <a:buNone/>
              <a:defRPr sz="3150" b="1">
                <a:solidFill>
                  <a:srgbClr val="0B1728"/>
                </a:solidFill>
                <a:latin typeface="Arial"/>
                <a:ea typeface="Arial"/>
                <a:cs typeface="Arial"/>
              </a:defRPr>
            </a:pPr>
            <a:r>
              <a:rPr sz="3150" b="1">
                <a:solidFill>
                  <a:srgbClr val="0B1728"/>
                </a:solidFill>
                <a:latin typeface="Arial"/>
                <a:ea typeface="Arial"/>
                <a:cs typeface="Arial"/>
              </a:rPr>
              <a:t>Arsitektur IBM dan status integrasi</a:t>
            </a:r>
          </a:p>
        </p:txBody>
      </p:sp>
      <p:sp>
        <p:nvSpPr>
          <p:cNvPr id="4" name="key-takeaway">
            <a:extLst xmlns:a="http://schemas.openxmlformats.org/drawingml/2006/main">
              <a:ext uri="{FF2B5EF4-FFF2-40B4-BE49-F238E27FC236}">
                <a16:creationId xmlns:a16="http://schemas.microsoft.com/office/drawing/2014/main" id="{09625063-6D01-414A-966A-DDD6309B2A4B}"/>
              </a:ext>
            </a:extLst>
          </p:cNvPr>
          <p:cNvSpPr>
            <a:spLocks xmlns:a="http://schemas.openxmlformats.org/drawingml/2006/main" noGrp="1"/>
          </p:cNvSpPr>
          <p:nvPr/>
        </p:nvSpPr>
        <p:spPr>
          <a:xfrm xmlns:a="http://schemas.openxmlformats.org/drawingml/2006/main">
            <a:off x="685800" y="13144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2B4D"/>
                </a:solidFill>
                <a:latin typeface="Arial"/>
                <a:ea typeface="Arial"/>
                <a:cs typeface="Arial"/>
              </a:defRPr>
            </a:defPPr>
          </a:lstStyle>
          <a:p xmlns:a="http://schemas.openxmlformats.org/drawingml/2006/main">
            <a:pPr algn="l">
              <a:lnSpc>
                <a:spcPct val="100000"/>
              </a:lnSpc>
              <a:buNone/>
              <a:defRPr sz="1575" b="1">
                <a:solidFill>
                  <a:srgbClr val="172B4D"/>
                </a:solidFill>
                <a:latin typeface="Arial"/>
                <a:ea typeface="Arial"/>
                <a:cs typeface="Arial"/>
              </a:defRPr>
            </a:pPr>
            <a:r>
              <a:rPr sz="1575" b="1">
                <a:solidFill>
                  <a:srgbClr val="172B4D"/>
                </a:solidFill>
                <a:latin typeface="Arial"/>
                <a:ea typeface="Arial"/>
                <a:cs typeface="Arial"/>
              </a:rPr>
              <a:t>Jalur audit lokal tersedia. Koneksi IBM Bob dan Langflow masih perlu pembuktian end-to-end.</a:t>
            </a:r>
          </a:p>
        </p:txBody>
      </p:sp>
      <p:sp>
        <p:nvSpPr>
          <p:cNvPr id="5" name="page-number">
            <a:extLst xmlns:a="http://schemas.openxmlformats.org/drawingml/2006/main">
              <a:ext uri="{FF2B5EF4-FFF2-40B4-BE49-F238E27FC236}">
                <a16:creationId xmlns:a16="http://schemas.microsoft.com/office/drawing/2014/main" id="{A81297AC-F6D4-41D5-A3D4-B62B3361B979}"/>
              </a:ext>
            </a:extLst>
          </p:cNvPr>
          <p:cNvSpPr>
            <a:spLocks xmlns:a="http://schemas.openxmlformats.org/drawingml/2006/main" noGrp="1"/>
          </p:cNvSpPr>
          <p:nvPr/>
        </p:nvSpPr>
        <p:spPr>
          <a:xfrm xmlns:a="http://schemas.openxmlformats.org/drawingml/2006/main">
            <a:off x="10668000" y="64770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0">
                <a:solidFill>
                  <a:srgbClr val="526178"/>
                </a:solidFill>
                <a:latin typeface="Arial"/>
                <a:ea typeface="Arial"/>
                <a:cs typeface="Arial"/>
              </a:defRPr>
            </a:defPPr>
          </a:lstStyle>
          <a:p xmlns:a="http://schemas.openxmlformats.org/drawingml/2006/main">
            <a:pPr algn="r">
              <a:defRPr sz="975" b="0">
                <a:solidFill>
                  <a:srgbClr val="526178"/>
                </a:solidFill>
                <a:latin typeface="Arial"/>
                <a:ea typeface="Arial"/>
                <a:cs typeface="Arial"/>
              </a:defRPr>
            </a:pPr>
            <a:r>
              <a:rPr sz="975" b="0">
                <a:solidFill>
                  <a:srgbClr val="526178"/>
                </a:solidFill>
                <a:latin typeface="Arial"/>
                <a:ea typeface="Arial"/>
                <a:cs typeface="Arial"/>
              </a:rPr>
              <a:t>04 / 10</a:t>
            </a:r>
          </a:p>
        </p:txBody>
      </p:sp>
      <p:sp>
        <p:nvSpPr>
          <p:cNvPr id="6" name="arch-ui-box">
            <a:extLst xmlns:a="http://schemas.openxmlformats.org/drawingml/2006/main">
              <a:ext uri="{FF2B5EF4-FFF2-40B4-BE49-F238E27FC236}">
                <a16:creationId xmlns:a16="http://schemas.microsoft.com/office/drawing/2014/main" id="{B8AC577C-061C-4946-AC58-4AFAC030A7F5}"/>
              </a:ext>
            </a:extLst>
          </p:cNvPr>
          <p:cNvSpPr>
            <a:spLocks xmlns:a="http://schemas.openxmlformats.org/drawingml/2006/main" noGrp="1"/>
          </p:cNvSpPr>
          <p:nvPr/>
        </p:nvSpPr>
        <p:spPr>
          <a:xfrm xmlns:a="http://schemas.openxmlformats.org/drawingml/2006/main">
            <a:off x="685800" y="2305050"/>
            <a:ext cx="22479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AFC7E8"/>
            </a:solidFill>
            <a:prstDash val="solid"/>
          </a:ln>
        </p:spPr>
      </p:sp>
      <p:sp>
        <p:nvSpPr>
          <p:cNvPr id="7" name="arch-ui-eyebrow">
            <a:extLst xmlns:a="http://schemas.openxmlformats.org/drawingml/2006/main">
              <a:ext uri="{FF2B5EF4-FFF2-40B4-BE49-F238E27FC236}">
                <a16:creationId xmlns:a16="http://schemas.microsoft.com/office/drawing/2014/main" id="{B9068E71-A3FE-48F0-A8DD-DE8DC14B3466}"/>
              </a:ext>
            </a:extLst>
          </p:cNvPr>
          <p:cNvSpPr>
            <a:spLocks xmlns:a="http://schemas.openxmlformats.org/drawingml/2006/main" noGrp="1"/>
          </p:cNvSpPr>
          <p:nvPr/>
        </p:nvSpPr>
        <p:spPr>
          <a:xfrm xmlns:a="http://schemas.openxmlformats.org/drawingml/2006/main">
            <a:off x="857250" y="24479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1">
                <a:solidFill>
                  <a:srgbClr val="0F62FE"/>
                </a:solidFill>
                <a:latin typeface="Arial"/>
                <a:ea typeface="Arial"/>
                <a:cs typeface="Arial"/>
              </a:defRPr>
            </a:defPPr>
          </a:lstStyle>
          <a:p xmlns:a="http://schemas.openxmlformats.org/drawingml/2006/main">
            <a:pPr algn="l">
              <a:defRPr sz="975" b="1">
                <a:solidFill>
                  <a:srgbClr val="0F62FE"/>
                </a:solidFill>
                <a:latin typeface="Arial"/>
                <a:ea typeface="Arial"/>
                <a:cs typeface="Arial"/>
              </a:defRPr>
            </a:pPr>
            <a:r>
              <a:rPr sz="975" b="1">
                <a:solidFill>
                  <a:srgbClr val="0F62FE"/>
                </a:solidFill>
                <a:latin typeface="Arial"/>
                <a:ea typeface="Arial"/>
                <a:cs typeface="Arial"/>
              </a:rPr>
              <a:t>DEMO LOKAL</a:t>
            </a:r>
          </a:p>
        </p:txBody>
      </p:sp>
      <p:sp>
        <p:nvSpPr>
          <p:cNvPr id="8" name="arch-ui-title">
            <a:extLst xmlns:a="http://schemas.openxmlformats.org/drawingml/2006/main">
              <a:ext uri="{FF2B5EF4-FFF2-40B4-BE49-F238E27FC236}">
                <a16:creationId xmlns:a16="http://schemas.microsoft.com/office/drawing/2014/main" id="{21C58C51-E733-45B7-B705-7A5B2C0DD60A}"/>
              </a:ext>
            </a:extLst>
          </p:cNvPr>
          <p:cNvSpPr>
            <a:spLocks xmlns:a="http://schemas.openxmlformats.org/drawingml/2006/main" noGrp="1"/>
          </p:cNvSpPr>
          <p:nvPr/>
        </p:nvSpPr>
        <p:spPr>
          <a:xfrm xmlns:a="http://schemas.openxmlformats.org/drawingml/2006/main">
            <a:off x="857250" y="2714625"/>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index.html</a:t>
            </a:r>
          </a:p>
        </p:txBody>
      </p:sp>
      <p:sp>
        <p:nvSpPr>
          <p:cNvPr id="9" name="arch-ui-copy">
            <a:extLst xmlns:a="http://schemas.openxmlformats.org/drawingml/2006/main">
              <a:ext uri="{FF2B5EF4-FFF2-40B4-BE49-F238E27FC236}">
                <a16:creationId xmlns:a16="http://schemas.microsoft.com/office/drawing/2014/main" id="{8CB0A9F4-4573-4BE1-8B79-12EAF8217A71}"/>
              </a:ext>
            </a:extLst>
          </p:cNvPr>
          <p:cNvSpPr>
            <a:spLocks xmlns:a="http://schemas.openxmlformats.org/drawingml/2006/main" noGrp="1"/>
          </p:cNvSpPr>
          <p:nvPr/>
        </p:nvSpPr>
        <p:spPr>
          <a:xfrm xmlns:a="http://schemas.openxmlformats.org/drawingml/2006/main">
            <a:off x="857250" y="3095625"/>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Dashboard dan audit kustom.</a:t>
            </a:r>
          </a:p>
        </p:txBody>
      </p:sp>
      <p:sp>
        <p:nvSpPr>
          <p:cNvPr id="10" name="arch-bridge-box">
            <a:extLst xmlns:a="http://schemas.openxmlformats.org/drawingml/2006/main">
              <a:ext uri="{FF2B5EF4-FFF2-40B4-BE49-F238E27FC236}">
                <a16:creationId xmlns:a16="http://schemas.microsoft.com/office/drawing/2014/main" id="{389A3BC0-05CA-40E2-9079-A58B677DDD26}"/>
              </a:ext>
            </a:extLst>
          </p:cNvPr>
          <p:cNvSpPr>
            <a:spLocks xmlns:a="http://schemas.openxmlformats.org/drawingml/2006/main" noGrp="1"/>
          </p:cNvSpPr>
          <p:nvPr/>
        </p:nvSpPr>
        <p:spPr>
          <a:xfrm xmlns:a="http://schemas.openxmlformats.org/drawingml/2006/main">
            <a:off x="3524250" y="2305050"/>
            <a:ext cx="22479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AFC7E8"/>
            </a:solidFill>
            <a:prstDash val="solid"/>
          </a:ln>
        </p:spPr>
      </p:sp>
      <p:sp>
        <p:nvSpPr>
          <p:cNvPr id="11" name="arch-bridge-eyebrow">
            <a:extLst xmlns:a="http://schemas.openxmlformats.org/drawingml/2006/main">
              <a:ext uri="{FF2B5EF4-FFF2-40B4-BE49-F238E27FC236}">
                <a16:creationId xmlns:a16="http://schemas.microsoft.com/office/drawing/2014/main" id="{5B1CCB71-1ACD-430A-B4B0-67D17F97C6AC}"/>
              </a:ext>
            </a:extLst>
          </p:cNvPr>
          <p:cNvSpPr>
            <a:spLocks xmlns:a="http://schemas.openxmlformats.org/drawingml/2006/main" noGrp="1"/>
          </p:cNvSpPr>
          <p:nvPr/>
        </p:nvSpPr>
        <p:spPr>
          <a:xfrm xmlns:a="http://schemas.openxmlformats.org/drawingml/2006/main">
            <a:off x="3695700" y="24479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1">
                <a:solidFill>
                  <a:srgbClr val="0F62FE"/>
                </a:solidFill>
                <a:latin typeface="Arial"/>
                <a:ea typeface="Arial"/>
                <a:cs typeface="Arial"/>
              </a:defRPr>
            </a:defPPr>
          </a:lstStyle>
          <a:p xmlns:a="http://schemas.openxmlformats.org/drawingml/2006/main">
            <a:pPr algn="l">
              <a:defRPr sz="975" b="1">
                <a:solidFill>
                  <a:srgbClr val="0F62FE"/>
                </a:solidFill>
                <a:latin typeface="Arial"/>
                <a:ea typeface="Arial"/>
                <a:cs typeface="Arial"/>
              </a:defRPr>
            </a:pPr>
            <a:r>
              <a:rPr sz="975" b="1">
                <a:solidFill>
                  <a:srgbClr val="0F62FE"/>
                </a:solidFill>
                <a:latin typeface="Arial"/>
                <a:ea typeface="Arial"/>
                <a:cs typeface="Arial"/>
              </a:rPr>
              <a:t>DEMO LOKAL</a:t>
            </a:r>
          </a:p>
        </p:txBody>
      </p:sp>
      <p:sp>
        <p:nvSpPr>
          <p:cNvPr id="12" name="arch-bridge-title">
            <a:extLst xmlns:a="http://schemas.openxmlformats.org/drawingml/2006/main">
              <a:ext uri="{FF2B5EF4-FFF2-40B4-BE49-F238E27FC236}">
                <a16:creationId xmlns:a16="http://schemas.microsoft.com/office/drawing/2014/main" id="{8D2C5E8A-95F0-4227-9975-B3340C6C33D3}"/>
              </a:ext>
            </a:extLst>
          </p:cNvPr>
          <p:cNvSpPr>
            <a:spLocks xmlns:a="http://schemas.openxmlformats.org/drawingml/2006/main" noGrp="1"/>
          </p:cNvSpPr>
          <p:nvPr/>
        </p:nvSpPr>
        <p:spPr>
          <a:xfrm xmlns:a="http://schemas.openxmlformats.org/drawingml/2006/main">
            <a:off x="3695700" y="2714625"/>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server.py</a:t>
            </a:r>
          </a:p>
        </p:txBody>
      </p:sp>
      <p:sp>
        <p:nvSpPr>
          <p:cNvPr id="13" name="arch-bridge-copy">
            <a:extLst xmlns:a="http://schemas.openxmlformats.org/drawingml/2006/main">
              <a:ext uri="{FF2B5EF4-FFF2-40B4-BE49-F238E27FC236}">
                <a16:creationId xmlns:a16="http://schemas.microsoft.com/office/drawing/2014/main" id="{AF075699-2494-40D8-ACE8-338641704102}"/>
              </a:ext>
            </a:extLst>
          </p:cNvPr>
          <p:cNvSpPr>
            <a:spLocks xmlns:a="http://schemas.openxmlformats.org/drawingml/2006/main" noGrp="1"/>
          </p:cNvSpPr>
          <p:nvPr/>
        </p:nvSpPr>
        <p:spPr>
          <a:xfrm xmlns:a="http://schemas.openxmlformats.org/drawingml/2006/main">
            <a:off x="3695700" y="3095625"/>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/api/audit lokal; proxy REST ke Langflow.</a:t>
            </a:r>
          </a:p>
        </p:txBody>
      </p:sp>
      <p:sp>
        <p:nvSpPr>
          <p:cNvPr id="14" name="arch-rules-box">
            <a:extLst xmlns:a="http://schemas.openxmlformats.org/drawingml/2006/main">
              <a:ext uri="{FF2B5EF4-FFF2-40B4-BE49-F238E27FC236}">
                <a16:creationId xmlns:a16="http://schemas.microsoft.com/office/drawing/2014/main" id="{F763EDB1-6AA7-4ECA-9187-54F188229FB8}"/>
              </a:ext>
            </a:extLst>
          </p:cNvPr>
          <p:cNvSpPr>
            <a:spLocks xmlns:a="http://schemas.openxmlformats.org/drawingml/2006/main" noGrp="1"/>
          </p:cNvSpPr>
          <p:nvPr/>
        </p:nvSpPr>
        <p:spPr>
          <a:xfrm xmlns:a="http://schemas.openxmlformats.org/drawingml/2006/main">
            <a:off x="6362700" y="2305050"/>
            <a:ext cx="22479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AFC7E8"/>
            </a:solidFill>
            <a:prstDash val="solid"/>
          </a:ln>
        </p:spPr>
      </p:sp>
      <p:sp>
        <p:nvSpPr>
          <p:cNvPr id="15" name="arch-rules-eyebrow">
            <a:extLst xmlns:a="http://schemas.openxmlformats.org/drawingml/2006/main">
              <a:ext uri="{FF2B5EF4-FFF2-40B4-BE49-F238E27FC236}">
                <a16:creationId xmlns:a16="http://schemas.microsoft.com/office/drawing/2014/main" id="{A0CAEB2A-8F32-4D06-8032-D9F851549CC3}"/>
              </a:ext>
            </a:extLst>
          </p:cNvPr>
          <p:cNvSpPr>
            <a:spLocks xmlns:a="http://schemas.openxmlformats.org/drawingml/2006/main" noGrp="1"/>
          </p:cNvSpPr>
          <p:nvPr/>
        </p:nvSpPr>
        <p:spPr>
          <a:xfrm xmlns:a="http://schemas.openxmlformats.org/drawingml/2006/main">
            <a:off x="6534150" y="24479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1">
                <a:solidFill>
                  <a:srgbClr val="0F62FE"/>
                </a:solidFill>
                <a:latin typeface="Arial"/>
                <a:ea typeface="Arial"/>
                <a:cs typeface="Arial"/>
              </a:defRPr>
            </a:defPPr>
          </a:lstStyle>
          <a:p xmlns:a="http://schemas.openxmlformats.org/drawingml/2006/main">
            <a:pPr algn="l">
              <a:defRPr sz="975" b="1">
                <a:solidFill>
                  <a:srgbClr val="0F62FE"/>
                </a:solidFill>
                <a:latin typeface="Arial"/>
                <a:ea typeface="Arial"/>
                <a:cs typeface="Arial"/>
              </a:defRPr>
            </a:pPr>
            <a:r>
              <a:rPr sz="975" b="1">
                <a:solidFill>
                  <a:srgbClr val="0F62FE"/>
                </a:solidFill>
                <a:latin typeface="Arial"/>
                <a:ea typeface="Arial"/>
                <a:cs typeface="Arial"/>
              </a:rPr>
              <a:t>DEMO LOKAL</a:t>
            </a:r>
          </a:p>
        </p:txBody>
      </p:sp>
      <p:sp>
        <p:nvSpPr>
          <p:cNvPr id="16" name="arch-rules-title">
            <a:extLst xmlns:a="http://schemas.openxmlformats.org/drawingml/2006/main">
              <a:ext uri="{FF2B5EF4-FFF2-40B4-BE49-F238E27FC236}">
                <a16:creationId xmlns:a16="http://schemas.microsoft.com/office/drawing/2014/main" id="{8AD02A2E-983C-4686-8749-F5BD24E1AD0B}"/>
              </a:ext>
            </a:extLst>
          </p:cNvPr>
          <p:cNvSpPr>
            <a:spLocks xmlns:a="http://schemas.openxmlformats.org/drawingml/2006/main" noGrp="1"/>
          </p:cNvSpPr>
          <p:nvPr/>
        </p:nvSpPr>
        <p:spPr>
          <a:xfrm xmlns:a="http://schemas.openxmlformats.org/drawingml/2006/main">
            <a:off x="6534150" y="2714625"/>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Rules engine</a:t>
            </a:r>
          </a:p>
        </p:txBody>
      </p:sp>
      <p:sp>
        <p:nvSpPr>
          <p:cNvPr id="17" name="arch-rules-copy">
            <a:extLst xmlns:a="http://schemas.openxmlformats.org/drawingml/2006/main">
              <a:ext uri="{FF2B5EF4-FFF2-40B4-BE49-F238E27FC236}">
                <a16:creationId xmlns:a16="http://schemas.microsoft.com/office/drawing/2014/main" id="{EC80F446-284D-47FC-AC11-EA83A3467BDF}"/>
              </a:ext>
            </a:extLst>
          </p:cNvPr>
          <p:cNvSpPr>
            <a:spLocks xmlns:a="http://schemas.openxmlformats.org/drawingml/2006/main" noGrp="1"/>
          </p:cNvSpPr>
          <p:nvPr/>
        </p:nvSpPr>
        <p:spPr>
          <a:xfrm xmlns:a="http://schemas.openxmlformats.org/drawingml/2006/main">
            <a:off x="6534150" y="3095625"/>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Parser kata kunci dan log JSONL.</a:t>
            </a:r>
          </a:p>
        </p:txBody>
      </p:sp>
      <p:sp>
        <p:nvSpPr>
          <p:cNvPr id="18" name="arch-output-box">
            <a:extLst xmlns:a="http://schemas.openxmlformats.org/drawingml/2006/main">
              <a:ext uri="{FF2B5EF4-FFF2-40B4-BE49-F238E27FC236}">
                <a16:creationId xmlns:a16="http://schemas.microsoft.com/office/drawing/2014/main" id="{203E7E4B-F4EE-48F9-B7B7-83779FB78C39}"/>
              </a:ext>
            </a:extLst>
          </p:cNvPr>
          <p:cNvSpPr>
            <a:spLocks xmlns:a="http://schemas.openxmlformats.org/drawingml/2006/main" noGrp="1"/>
          </p:cNvSpPr>
          <p:nvPr/>
        </p:nvSpPr>
        <p:spPr>
          <a:xfrm xmlns:a="http://schemas.openxmlformats.org/drawingml/2006/main">
            <a:off x="9201150" y="2305050"/>
            <a:ext cx="22479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AFC7E8"/>
            </a:solidFill>
            <a:prstDash val="solid"/>
          </a:ln>
        </p:spPr>
      </p:sp>
      <p:sp>
        <p:nvSpPr>
          <p:cNvPr id="19" name="arch-output-eyebrow">
            <a:extLst xmlns:a="http://schemas.openxmlformats.org/drawingml/2006/main">
              <a:ext uri="{FF2B5EF4-FFF2-40B4-BE49-F238E27FC236}">
                <a16:creationId xmlns:a16="http://schemas.microsoft.com/office/drawing/2014/main" id="{AEDC3B84-6073-47E4-AE23-3AC863BBB5FB}"/>
              </a:ext>
            </a:extLst>
          </p:cNvPr>
          <p:cNvSpPr>
            <a:spLocks xmlns:a="http://schemas.openxmlformats.org/drawingml/2006/main" noGrp="1"/>
          </p:cNvSpPr>
          <p:nvPr/>
        </p:nvSpPr>
        <p:spPr>
          <a:xfrm xmlns:a="http://schemas.openxmlformats.org/drawingml/2006/main">
            <a:off x="9372600" y="24479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1">
                <a:solidFill>
                  <a:srgbClr val="0F62FE"/>
                </a:solidFill>
                <a:latin typeface="Arial"/>
                <a:ea typeface="Arial"/>
                <a:cs typeface="Arial"/>
              </a:defRPr>
            </a:defPPr>
          </a:lstStyle>
          <a:p xmlns:a="http://schemas.openxmlformats.org/drawingml/2006/main">
            <a:pPr algn="l">
              <a:defRPr sz="975" b="1">
                <a:solidFill>
                  <a:srgbClr val="0F62FE"/>
                </a:solidFill>
                <a:latin typeface="Arial"/>
                <a:ea typeface="Arial"/>
                <a:cs typeface="Arial"/>
              </a:defRPr>
            </a:pPr>
            <a:r>
              <a:rPr sz="975" b="1">
                <a:solidFill>
                  <a:srgbClr val="0F62FE"/>
                </a:solidFill>
                <a:latin typeface="Arial"/>
                <a:ea typeface="Arial"/>
                <a:cs typeface="Arial"/>
              </a:rPr>
              <a:t>DEMO LOKAL</a:t>
            </a:r>
          </a:p>
        </p:txBody>
      </p:sp>
      <p:sp>
        <p:nvSpPr>
          <p:cNvPr id="20" name="arch-output-title">
            <a:extLst xmlns:a="http://schemas.openxmlformats.org/drawingml/2006/main">
              <a:ext uri="{FF2B5EF4-FFF2-40B4-BE49-F238E27FC236}">
                <a16:creationId xmlns:a16="http://schemas.microsoft.com/office/drawing/2014/main" id="{C6F941E1-63D9-4143-8E3A-B52F3B589896}"/>
              </a:ext>
            </a:extLst>
          </p:cNvPr>
          <p:cNvSpPr>
            <a:spLocks xmlns:a="http://schemas.openxmlformats.org/drawingml/2006/main" noGrp="1"/>
          </p:cNvSpPr>
          <p:nvPr/>
        </p:nvSpPr>
        <p:spPr>
          <a:xfrm xmlns:a="http://schemas.openxmlformats.org/drawingml/2006/main">
            <a:off x="9372600" y="2714625"/>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Hasil audit</a:t>
            </a:r>
          </a:p>
        </p:txBody>
      </p:sp>
      <p:sp>
        <p:nvSpPr>
          <p:cNvPr id="21" name="arch-output-copy">
            <a:extLst xmlns:a="http://schemas.openxmlformats.org/drawingml/2006/main">
              <a:ext uri="{FF2B5EF4-FFF2-40B4-BE49-F238E27FC236}">
                <a16:creationId xmlns:a16="http://schemas.microsoft.com/office/drawing/2014/main" id="{18D643C7-1DE4-4485-951E-7F7C466D00DC}"/>
              </a:ext>
            </a:extLst>
          </p:cNvPr>
          <p:cNvSpPr>
            <a:spLocks xmlns:a="http://schemas.openxmlformats.org/drawingml/2006/main" noGrp="1"/>
          </p:cNvSpPr>
          <p:nvPr/>
        </p:nvSpPr>
        <p:spPr>
          <a:xfrm xmlns:a="http://schemas.openxmlformats.org/drawingml/2006/main">
            <a:off x="9372600" y="3095625"/>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Verdict, kategori risiko, matriks.</a:t>
            </a:r>
          </a:p>
        </p:txBody>
      </p:sp>
      <p:sp>
        <p:nvSpPr>
          <p:cNvPr id="22" name="arch-link-0">
            <a:extLst xmlns:a="http://schemas.openxmlformats.org/drawingml/2006/main">
              <a:ext uri="{FF2B5EF4-FFF2-40B4-BE49-F238E27FC236}">
                <a16:creationId xmlns:a16="http://schemas.microsoft.com/office/drawing/2014/main" id="{207E8AF3-553B-4FD9-9CA8-218491848EC3}"/>
              </a:ext>
            </a:extLst>
          </p:cNvPr>
          <p:cNvSpPr>
            <a:spLocks xmlns:a="http://schemas.openxmlformats.org/drawingml/2006/main" noGrp="1"/>
          </p:cNvSpPr>
          <p:nvPr/>
        </p:nvSpPr>
        <p:spPr>
          <a:xfrm xmlns:a="http://schemas.openxmlformats.org/drawingml/2006/main">
            <a:off x="3048000" y="2962275"/>
            <a:ext cx="552450" cy="38100"/>
          </a:xfrm>
          <a:prstGeom xmlns:a="http://schemas.openxmlformats.org/drawingml/2006/main" prst="rect">
            <a:avLst/>
          </a:prstGeom>
          <a:solidFill xmlns:a="http://schemas.openxmlformats.org/drawingml/2006/main">
            <a:srgbClr val="0F62FE"/>
          </a:solidFill>
          <a:ln xmlns:a="http://schemas.openxmlformats.org/drawingml/2006/main" w="0">
            <a:noFill/>
            <a:prstDash val="solid"/>
          </a:ln>
        </p:spPr>
      </p:sp>
      <p:sp>
        <p:nvSpPr>
          <p:cNvPr id="23" name="arch-link-1">
            <a:extLst xmlns:a="http://schemas.openxmlformats.org/drawingml/2006/main">
              <a:ext uri="{FF2B5EF4-FFF2-40B4-BE49-F238E27FC236}">
                <a16:creationId xmlns:a16="http://schemas.microsoft.com/office/drawing/2014/main" id="{4A8305F5-4AF5-4C4A-B31F-F129591C9B2C}"/>
              </a:ext>
            </a:extLst>
          </p:cNvPr>
          <p:cNvSpPr>
            <a:spLocks xmlns:a="http://schemas.openxmlformats.org/drawingml/2006/main" noGrp="1"/>
          </p:cNvSpPr>
          <p:nvPr/>
        </p:nvSpPr>
        <p:spPr>
          <a:xfrm xmlns:a="http://schemas.openxmlformats.org/drawingml/2006/main">
            <a:off x="5886450" y="2962275"/>
            <a:ext cx="552450" cy="38100"/>
          </a:xfrm>
          <a:prstGeom xmlns:a="http://schemas.openxmlformats.org/drawingml/2006/main" prst="rect">
            <a:avLst/>
          </a:prstGeom>
          <a:solidFill xmlns:a="http://schemas.openxmlformats.org/drawingml/2006/main">
            <a:srgbClr val="0F62FE"/>
          </a:solidFill>
          <a:ln xmlns:a="http://schemas.openxmlformats.org/drawingml/2006/main" w="0">
            <a:noFill/>
            <a:prstDash val="solid"/>
          </a:ln>
        </p:spPr>
      </p:sp>
      <p:sp>
        <p:nvSpPr>
          <p:cNvPr id="24" name="arch-link-2">
            <a:extLst xmlns:a="http://schemas.openxmlformats.org/drawingml/2006/main">
              <a:ext uri="{FF2B5EF4-FFF2-40B4-BE49-F238E27FC236}">
                <a16:creationId xmlns:a16="http://schemas.microsoft.com/office/drawing/2014/main" id="{54DB44A1-FCE7-45AD-A294-A5880C9EC461}"/>
              </a:ext>
            </a:extLst>
          </p:cNvPr>
          <p:cNvSpPr>
            <a:spLocks xmlns:a="http://schemas.openxmlformats.org/drawingml/2006/main" noGrp="1"/>
          </p:cNvSpPr>
          <p:nvPr/>
        </p:nvSpPr>
        <p:spPr>
          <a:xfrm xmlns:a="http://schemas.openxmlformats.org/drawingml/2006/main">
            <a:off x="8724900" y="2962275"/>
            <a:ext cx="552450" cy="38100"/>
          </a:xfrm>
          <a:prstGeom xmlns:a="http://schemas.openxmlformats.org/drawingml/2006/main" prst="rect">
            <a:avLst/>
          </a:prstGeom>
          <a:solidFill xmlns:a="http://schemas.openxmlformats.org/drawingml/2006/main">
            <a:srgbClr val="0F62FE"/>
          </a:solidFill>
          <a:ln xmlns:a="http://schemas.openxmlformats.org/drawingml/2006/main" w="0">
            <a:noFill/>
            <a:prstDash val="solid"/>
          </a:ln>
        </p:spPr>
      </p:sp>
      <p:sp>
        <p:nvSpPr>
          <p:cNvPr id="25" name="integration-label">
            <a:extLst xmlns:a="http://schemas.openxmlformats.org/drawingml/2006/main">
              <a:ext uri="{FF2B5EF4-FFF2-40B4-BE49-F238E27FC236}">
                <a16:creationId xmlns:a16="http://schemas.microsoft.com/office/drawing/2014/main" id="{63B04BFD-ECC2-45D4-A07F-553173E45F29}"/>
              </a:ext>
            </a:extLst>
          </p:cNvPr>
          <p:cNvSpPr>
            <a:spLocks xmlns:a="http://schemas.openxmlformats.org/drawingml/2006/main" noGrp="1"/>
          </p:cNvSpPr>
          <p:nvPr/>
        </p:nvSpPr>
        <p:spPr>
          <a:xfrm xmlns:a="http://schemas.openxmlformats.org/drawingml/2006/main">
            <a:off x="685800" y="4048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9F6B00"/>
                </a:solidFill>
                <a:latin typeface="Arial"/>
                <a:ea typeface="Arial"/>
                <a:cs typeface="Arial"/>
              </a:defRPr>
            </a:defPPr>
          </a:lstStyle>
          <a:p xmlns:a="http://schemas.openxmlformats.org/drawingml/2006/main">
            <a:pPr algn="l">
              <a:defRPr sz="1125" b="1">
                <a:solidFill>
                  <a:srgbClr val="9F6B00"/>
                </a:solidFill>
                <a:latin typeface="Arial"/>
                <a:ea typeface="Arial"/>
                <a:cs typeface="Arial"/>
              </a:defRPr>
            </a:pPr>
            <a:r>
              <a:rPr sz="1125" b="1">
                <a:solidFill>
                  <a:srgbClr val="9F6B00"/>
                </a:solidFill>
                <a:latin typeface="Arial"/>
                <a:ea typeface="Arial"/>
                <a:cs typeface="Arial"/>
              </a:rPr>
              <a:t>JALUR INTEGRASI YANG DISIAPKAN</a:t>
            </a:r>
          </a:p>
        </p:txBody>
      </p:sp>
      <p:sp>
        <p:nvSpPr>
          <p:cNvPr id="26" name="arch-langflow-box">
            <a:extLst xmlns:a="http://schemas.openxmlformats.org/drawingml/2006/main">
              <a:ext uri="{FF2B5EF4-FFF2-40B4-BE49-F238E27FC236}">
                <a16:creationId xmlns:a16="http://schemas.microsoft.com/office/drawing/2014/main" id="{C5F39B96-6DA9-4F0F-8C47-A25490696E68}"/>
              </a:ext>
            </a:extLst>
          </p:cNvPr>
          <p:cNvSpPr>
            <a:spLocks xmlns:a="http://schemas.openxmlformats.org/drawingml/2006/main" noGrp="1"/>
          </p:cNvSpPr>
          <p:nvPr/>
        </p:nvSpPr>
        <p:spPr>
          <a:xfrm xmlns:a="http://schemas.openxmlformats.org/drawingml/2006/main">
            <a:off x="685800" y="4381500"/>
            <a:ext cx="3238500" cy="1066800"/>
          </a:xfrm>
          <a:prstGeom xmlns:a="http://schemas.openxmlformats.org/drawingml/2006/main" prst="rect">
            <a:avLst/>
          </a:prstGeom>
          <a:solidFill xmlns:a="http://schemas.openxmlformats.org/drawingml/2006/main">
            <a:srgbClr val="FFF7E0"/>
          </a:solidFill>
          <a:ln xmlns:a="http://schemas.openxmlformats.org/drawingml/2006/main" w="9525">
            <a:solidFill>
              <a:srgbClr val="E7C873"/>
            </a:solidFill>
            <a:prstDash val="solid"/>
          </a:ln>
        </p:spPr>
      </p:sp>
      <p:sp>
        <p:nvSpPr>
          <p:cNvPr id="27" name="arch-langflow-eyebrow">
            <a:extLst xmlns:a="http://schemas.openxmlformats.org/drawingml/2006/main">
              <a:ext uri="{FF2B5EF4-FFF2-40B4-BE49-F238E27FC236}">
                <a16:creationId xmlns:a16="http://schemas.microsoft.com/office/drawing/2014/main" id="{0D615F0A-B452-4E76-AC4D-636D53653B2D}"/>
              </a:ext>
            </a:extLst>
          </p:cNvPr>
          <p:cNvSpPr>
            <a:spLocks xmlns:a="http://schemas.openxmlformats.org/drawingml/2006/main" noGrp="1"/>
          </p:cNvSpPr>
          <p:nvPr/>
        </p:nvSpPr>
        <p:spPr>
          <a:xfrm xmlns:a="http://schemas.openxmlformats.org/drawingml/2006/main">
            <a:off x="857250" y="4524375"/>
            <a:ext cx="2895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1">
                <a:solidFill>
                  <a:srgbClr val="0F62FE"/>
                </a:solidFill>
                <a:latin typeface="Arial"/>
                <a:ea typeface="Arial"/>
                <a:cs typeface="Arial"/>
              </a:defRPr>
            </a:defPPr>
          </a:lstStyle>
          <a:p xmlns:a="http://schemas.openxmlformats.org/drawingml/2006/main">
            <a:pPr algn="l">
              <a:defRPr sz="975" b="1">
                <a:solidFill>
                  <a:srgbClr val="0F62FE"/>
                </a:solidFill>
                <a:latin typeface="Arial"/>
                <a:ea typeface="Arial"/>
                <a:cs typeface="Arial"/>
              </a:defRPr>
            </a:pPr>
            <a:r>
              <a:rPr sz="975" b="1">
                <a:solidFill>
                  <a:srgbClr val="0F62FE"/>
                </a:solidFill>
                <a:latin typeface="Arial"/>
                <a:ea typeface="Arial"/>
                <a:cs typeface="Arial"/>
              </a:rPr>
              <a:t>PROXY TERSEDIA · FLOW BELUM ADA</a:t>
            </a:r>
          </a:p>
        </p:txBody>
      </p:sp>
      <p:sp>
        <p:nvSpPr>
          <p:cNvPr id="28" name="arch-langflow-title">
            <a:extLst xmlns:a="http://schemas.openxmlformats.org/drawingml/2006/main">
              <a:ext uri="{FF2B5EF4-FFF2-40B4-BE49-F238E27FC236}">
                <a16:creationId xmlns:a16="http://schemas.microsoft.com/office/drawing/2014/main" id="{1F63CB5D-B62E-4274-B350-76A3B9949DBB}"/>
              </a:ext>
            </a:extLst>
          </p:cNvPr>
          <p:cNvSpPr>
            <a:spLocks xmlns:a="http://schemas.openxmlformats.org/drawingml/2006/main" noGrp="1"/>
          </p:cNvSpPr>
          <p:nvPr/>
        </p:nvSpPr>
        <p:spPr>
          <a:xfrm xmlns:a="http://schemas.openxmlformats.org/drawingml/2006/main">
            <a:off x="857250" y="4791075"/>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Langflow :7860</a:t>
            </a:r>
          </a:p>
        </p:txBody>
      </p:sp>
      <p:sp>
        <p:nvSpPr>
          <p:cNvPr id="29" name="arch-langflow-copy">
            <a:extLst xmlns:a="http://schemas.openxmlformats.org/drawingml/2006/main">
              <a:ext uri="{FF2B5EF4-FFF2-40B4-BE49-F238E27FC236}">
                <a16:creationId xmlns:a16="http://schemas.microsoft.com/office/drawing/2014/main" id="{1AF426DD-059B-48E6-997C-16F1D4161C5E}"/>
              </a:ext>
            </a:extLst>
          </p:cNvPr>
          <p:cNvSpPr>
            <a:spLocks xmlns:a="http://schemas.openxmlformats.org/drawingml/2006/main" noGrp="1"/>
          </p:cNvSpPr>
          <p:nvPr/>
        </p:nvSpPr>
        <p:spPr>
          <a:xfrm xmlns:a="http://schemas.openxmlformats.org/drawingml/2006/main">
            <a:off x="857250" y="5172075"/>
            <a:ext cx="2895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1728"/>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Folder langflow/ kosong pada checkout ini.</a:t>
            </a:r>
          </a:p>
        </p:txBody>
      </p:sp>
      <p:sp>
        <p:nvSpPr>
          <p:cNvPr id="30" name="arch-bob-box">
            <a:extLst xmlns:a="http://schemas.openxmlformats.org/drawingml/2006/main">
              <a:ext uri="{FF2B5EF4-FFF2-40B4-BE49-F238E27FC236}">
                <a16:creationId xmlns:a16="http://schemas.microsoft.com/office/drawing/2014/main" id="{0E24826F-9316-40A7-9139-DF0626D350CC}"/>
              </a:ext>
            </a:extLst>
          </p:cNvPr>
          <p:cNvSpPr>
            <a:spLocks xmlns:a="http://schemas.openxmlformats.org/drawingml/2006/main" noGrp="1"/>
          </p:cNvSpPr>
          <p:nvPr/>
        </p:nvSpPr>
        <p:spPr>
          <a:xfrm xmlns:a="http://schemas.openxmlformats.org/drawingml/2006/main">
            <a:off x="4476750" y="4381500"/>
            <a:ext cx="3238500" cy="1066800"/>
          </a:xfrm>
          <a:prstGeom xmlns:a="http://schemas.openxmlformats.org/drawingml/2006/main" prst="rect">
            <a:avLst/>
          </a:prstGeom>
          <a:solidFill xmlns:a="http://schemas.openxmlformats.org/drawingml/2006/main">
            <a:srgbClr val="FFF7E0"/>
          </a:solidFill>
          <a:ln xmlns:a="http://schemas.openxmlformats.org/drawingml/2006/main" w="9525">
            <a:solidFill>
              <a:srgbClr val="E7C873"/>
            </a:solidFill>
            <a:prstDash val="solid"/>
          </a:ln>
        </p:spPr>
      </p:sp>
      <p:sp>
        <p:nvSpPr>
          <p:cNvPr id="31" name="arch-bob-eyebrow">
            <a:extLst xmlns:a="http://schemas.openxmlformats.org/drawingml/2006/main">
              <a:ext uri="{FF2B5EF4-FFF2-40B4-BE49-F238E27FC236}">
                <a16:creationId xmlns:a16="http://schemas.microsoft.com/office/drawing/2014/main" id="{2245E712-2798-4079-B230-586D8A28CD70}"/>
              </a:ext>
            </a:extLst>
          </p:cNvPr>
          <p:cNvSpPr>
            <a:spLocks xmlns:a="http://schemas.openxmlformats.org/drawingml/2006/main" noGrp="1"/>
          </p:cNvSpPr>
          <p:nvPr/>
        </p:nvSpPr>
        <p:spPr>
          <a:xfrm xmlns:a="http://schemas.openxmlformats.org/drawingml/2006/main">
            <a:off x="4648200" y="4524375"/>
            <a:ext cx="2895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1">
                <a:solidFill>
                  <a:srgbClr val="0F62FE"/>
                </a:solidFill>
                <a:latin typeface="Arial"/>
                <a:ea typeface="Arial"/>
                <a:cs typeface="Arial"/>
              </a:defRPr>
            </a:defPPr>
          </a:lstStyle>
          <a:p xmlns:a="http://schemas.openxmlformats.org/drawingml/2006/main">
            <a:pPr algn="l">
              <a:defRPr sz="975" b="1">
                <a:solidFill>
                  <a:srgbClr val="0F62FE"/>
                </a:solidFill>
                <a:latin typeface="Arial"/>
                <a:ea typeface="Arial"/>
                <a:cs typeface="Arial"/>
              </a:defRPr>
            </a:pPr>
            <a:r>
              <a:rPr sz="975" b="1">
                <a:solidFill>
                  <a:srgbClr val="0F62FE"/>
                </a:solidFill>
                <a:latin typeface="Arial"/>
                <a:ea typeface="Arial"/>
                <a:cs typeface="Arial"/>
              </a:rPr>
              <a:t>MCP CONFIG · LIVE LINK BELUM DIVERIFIKASI</a:t>
            </a:r>
          </a:p>
        </p:txBody>
      </p:sp>
      <p:sp>
        <p:nvSpPr>
          <p:cNvPr id="32" name="arch-bob-title">
            <a:extLst xmlns:a="http://schemas.openxmlformats.org/drawingml/2006/main">
              <a:ext uri="{FF2B5EF4-FFF2-40B4-BE49-F238E27FC236}">
                <a16:creationId xmlns:a16="http://schemas.microsoft.com/office/drawing/2014/main" id="{B8060C23-CB2D-4B0E-810C-DB1BBFA65C9C}"/>
              </a:ext>
            </a:extLst>
          </p:cNvPr>
          <p:cNvSpPr>
            <a:spLocks xmlns:a="http://schemas.openxmlformats.org/drawingml/2006/main" noGrp="1"/>
          </p:cNvSpPr>
          <p:nvPr/>
        </p:nvSpPr>
        <p:spPr>
          <a:xfrm xmlns:a="http://schemas.openxmlformats.org/drawingml/2006/main">
            <a:off x="4648200" y="4791075"/>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IBM Bob</a:t>
            </a:r>
          </a:p>
        </p:txBody>
      </p:sp>
      <p:sp>
        <p:nvSpPr>
          <p:cNvPr id="33" name="arch-bob-copy">
            <a:extLst xmlns:a="http://schemas.openxmlformats.org/drawingml/2006/main">
              <a:ext uri="{FF2B5EF4-FFF2-40B4-BE49-F238E27FC236}">
                <a16:creationId xmlns:a16="http://schemas.microsoft.com/office/drawing/2014/main" id="{357569C9-BF03-4C81-B7AB-38EAF6388D6F}"/>
              </a:ext>
            </a:extLst>
          </p:cNvPr>
          <p:cNvSpPr>
            <a:spLocks xmlns:a="http://schemas.openxmlformats.org/drawingml/2006/main" noGrp="1"/>
          </p:cNvSpPr>
          <p:nvPr/>
        </p:nvSpPr>
        <p:spPr>
          <a:xfrm xmlns:a="http://schemas.openxmlformats.org/drawingml/2006/main">
            <a:off x="4648200" y="5172075"/>
            <a:ext cx="2895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1728"/>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bob/mcp.json mendefinisikan Langflow MCP.</a:t>
            </a:r>
          </a:p>
        </p:txBody>
      </p:sp>
      <p:sp>
        <p:nvSpPr>
          <p:cNvPr id="34" name="arch-composio-box">
            <a:extLst xmlns:a="http://schemas.openxmlformats.org/drawingml/2006/main">
              <a:ext uri="{FF2B5EF4-FFF2-40B4-BE49-F238E27FC236}">
                <a16:creationId xmlns:a16="http://schemas.microsoft.com/office/drawing/2014/main" id="{D9A5E2E6-DFCF-493D-A367-C114D0C4C10B}"/>
              </a:ext>
            </a:extLst>
          </p:cNvPr>
          <p:cNvSpPr>
            <a:spLocks xmlns:a="http://schemas.openxmlformats.org/drawingml/2006/main" noGrp="1"/>
          </p:cNvSpPr>
          <p:nvPr/>
        </p:nvSpPr>
        <p:spPr>
          <a:xfrm xmlns:a="http://schemas.openxmlformats.org/drawingml/2006/main">
            <a:off x="8267700" y="4381500"/>
            <a:ext cx="3238500" cy="1066800"/>
          </a:xfrm>
          <a:prstGeom xmlns:a="http://schemas.openxmlformats.org/drawingml/2006/main" prst="rect">
            <a:avLst/>
          </a:prstGeom>
          <a:solidFill xmlns:a="http://schemas.openxmlformats.org/drawingml/2006/main">
            <a:srgbClr val="FFF7E0"/>
          </a:solidFill>
          <a:ln xmlns:a="http://schemas.openxmlformats.org/drawingml/2006/main" w="9525">
            <a:solidFill>
              <a:srgbClr val="E7C873"/>
            </a:solidFill>
            <a:prstDash val="solid"/>
          </a:ln>
        </p:spPr>
      </p:sp>
      <p:sp>
        <p:nvSpPr>
          <p:cNvPr id="35" name="arch-composio-eyebrow">
            <a:extLst xmlns:a="http://schemas.openxmlformats.org/drawingml/2006/main">
              <a:ext uri="{FF2B5EF4-FFF2-40B4-BE49-F238E27FC236}">
                <a16:creationId xmlns:a16="http://schemas.microsoft.com/office/drawing/2014/main" id="{CE213524-5F9B-4923-A5E1-CCE116CB41A2}"/>
              </a:ext>
            </a:extLst>
          </p:cNvPr>
          <p:cNvSpPr>
            <a:spLocks xmlns:a="http://schemas.openxmlformats.org/drawingml/2006/main" noGrp="1"/>
          </p:cNvSpPr>
          <p:nvPr/>
        </p:nvSpPr>
        <p:spPr>
          <a:xfrm xmlns:a="http://schemas.openxmlformats.org/drawingml/2006/main">
            <a:off x="8439150" y="4524375"/>
            <a:ext cx="2895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558"/>
          </a:bodyPr>
          <a:lstStyle xmlns:a="http://schemas.openxmlformats.org/drawingml/2006/main">
            <a:defPPr algn="l">
              <a:defRPr sz="975" b="1">
                <a:solidFill>
                  <a:srgbClr val="0F62FE"/>
                </a:solidFill>
                <a:latin typeface="Arial"/>
                <a:ea typeface="Arial"/>
                <a:cs typeface="Arial"/>
              </a:defRPr>
            </a:defPPr>
          </a:lstStyle>
          <a:p xmlns:a="http://schemas.openxmlformats.org/drawingml/2006/main">
            <a:pPr algn="l">
              <a:defRPr sz="975" b="1">
                <a:solidFill>
                  <a:srgbClr val="0F62FE"/>
                </a:solidFill>
                <a:latin typeface="Arial"/>
                <a:ea typeface="Arial"/>
                <a:cs typeface="Arial"/>
              </a:defRPr>
            </a:pPr>
            <a:r>
              <a:rPr sz="975" b="1">
                <a:solidFill>
                  <a:srgbClr val="0F62FE"/>
                </a:solidFill>
                <a:latin typeface="Arial"/>
                <a:ea typeface="Arial"/>
                <a:cs typeface="Arial"/>
              </a:rPr>
              <a:t>DISPATCHER ADA · SIMULASI TANPA KREDENSIAL</a:t>
            </a:r>
          </a:p>
        </p:txBody>
      </p:sp>
      <p:sp>
        <p:nvSpPr>
          <p:cNvPr id="36" name="arch-composio-title">
            <a:extLst xmlns:a="http://schemas.openxmlformats.org/drawingml/2006/main">
              <a:ext uri="{FF2B5EF4-FFF2-40B4-BE49-F238E27FC236}">
                <a16:creationId xmlns:a16="http://schemas.microsoft.com/office/drawing/2014/main" id="{E5730539-B8EE-4C81-AB6D-6531D903A698}"/>
              </a:ext>
            </a:extLst>
          </p:cNvPr>
          <p:cNvSpPr>
            <a:spLocks xmlns:a="http://schemas.openxmlformats.org/drawingml/2006/main" noGrp="1"/>
          </p:cNvSpPr>
          <p:nvPr/>
        </p:nvSpPr>
        <p:spPr>
          <a:xfrm xmlns:a="http://schemas.openxmlformats.org/drawingml/2006/main">
            <a:off x="8439150" y="4791075"/>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Composio</a:t>
            </a:r>
          </a:p>
        </p:txBody>
      </p:sp>
      <p:sp>
        <p:nvSpPr>
          <p:cNvPr id="37" name="arch-composio-copy">
            <a:extLst xmlns:a="http://schemas.openxmlformats.org/drawingml/2006/main">
              <a:ext uri="{FF2B5EF4-FFF2-40B4-BE49-F238E27FC236}">
                <a16:creationId xmlns:a16="http://schemas.microsoft.com/office/drawing/2014/main" id="{1518EBDD-6F51-4EBF-8E49-A65949994EF0}"/>
              </a:ext>
            </a:extLst>
          </p:cNvPr>
          <p:cNvSpPr>
            <a:spLocks xmlns:a="http://schemas.openxmlformats.org/drawingml/2006/main" noGrp="1"/>
          </p:cNvSpPr>
          <p:nvPr/>
        </p:nvSpPr>
        <p:spPr>
          <a:xfrm xmlns:a="http://schemas.openxmlformats.org/drawingml/2006/main">
            <a:off x="8439150" y="5172075"/>
            <a:ext cx="2895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1728"/>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Action builders ada dalam kode dispatcher.</a:t>
            </a:r>
          </a:p>
        </p:txBody>
      </p:sp>
      <p:sp>
        <p:nvSpPr>
          <p:cNvPr id="38" name="arch-status">
            <a:extLst xmlns:a="http://schemas.openxmlformats.org/drawingml/2006/main">
              <a:ext uri="{FF2B5EF4-FFF2-40B4-BE49-F238E27FC236}">
                <a16:creationId xmlns:a16="http://schemas.microsoft.com/office/drawing/2014/main" id="{CFCF8FC1-0C5D-498C-A2CD-2A0974AA73BB}"/>
              </a:ext>
            </a:extLst>
          </p:cNvPr>
          <p:cNvSpPr>
            <a:spLocks xmlns:a="http://schemas.openxmlformats.org/drawingml/2006/main" noGrp="1"/>
          </p:cNvSpPr>
          <p:nvPr/>
        </p:nvSpPr>
        <p:spPr>
          <a:xfrm xmlns:a="http://schemas.openxmlformats.org/drawingml/2006/main">
            <a:off x="685800" y="5857875"/>
            <a:ext cx="1076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defRPr sz="1350" b="0">
                <a:solidFill>
                  <a:srgbClr val="526178"/>
                </a:solidFill>
                <a:latin typeface="Arial"/>
                <a:ea typeface="Arial"/>
                <a:cs typeface="Arial"/>
              </a:defRPr>
            </a:pPr>
            <a:r>
              <a:rPr sz="1350" b="0">
                <a:solidFill>
                  <a:srgbClr val="526178"/>
                </a:solidFill>
                <a:latin typeface="Arial"/>
                <a:ea typeface="Arial"/>
                <a:cs typeface="Arial"/>
              </a:rPr>
              <a:t>Status integrasi mengikuti artefak di repo. Tidak ada klaim koneksi produksi.</a:t>
            </a:r>
          </a:p>
        </p:txBody>
      </p:sp>
    </p:spTree>
    <p:extLst>
      <p:ext uri="{BB962C8B-B14F-4D97-AF65-F5344CB8AC3E}">
        <p14:creationId xmlns:p14="http://schemas.microsoft.com/office/powerpoint/2010/main" val="1339146054"/>
      </p:ext>
    </p:extLst>
  </p:cSld>
</p:sld>
</file>

<file path=ppt/slides/slide5.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3" name="brand-mark">
            <a:extLst xmlns:a="http://schemas.openxmlformats.org/drawingml/2006/main">
              <a:ext uri="{FF2B5EF4-FFF2-40B4-BE49-F238E27FC236}">
                <a16:creationId xmlns:a16="http://schemas.microsoft.com/office/drawing/2014/main" id="{2F159803-19AD-47AB-A846-9A8118242010}"/>
              </a:ext>
            </a:extLst>
          </p:cNvPr>
          <p:cNvSpPr>
            <a:spLocks xmlns:a="http://schemas.openxmlformats.org/drawingml/2006/main" noGrp="1"/>
          </p:cNvSpPr>
          <p:nvPr/>
        </p:nvSpPr>
        <p:spPr>
          <a:xfrm xmlns:a="http://schemas.openxmlformats.org/drawingml/2006/main">
            <a:off x="685800" y="371475"/>
            <a:ext cx="47625" cy="171450"/>
          </a:xfrm>
          <a:prstGeom xmlns:a="http://schemas.openxmlformats.org/drawingml/2006/main" prst="rect">
            <a:avLst/>
          </a:prstGeom>
          <a:solidFill xmlns:a="http://schemas.openxmlformats.org/drawingml/2006/main">
            <a:srgbClr val="0F62FE"/>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612C3586-1C62-4C0C-A017-5D9BED50F7B4}"/>
              </a:ext>
            </a:extLst>
          </p:cNvPr>
          <p:cNvSpPr>
            <a:spLocks xmlns:a="http://schemas.openxmlformats.org/drawingml/2006/main" noGrp="1"/>
          </p:cNvSpPr>
          <p:nvPr/>
        </p:nvSpPr>
        <p:spPr>
          <a:xfrm xmlns:a="http://schemas.openxmlformats.org/drawingml/2006/main">
            <a:off x="838200" y="361950"/>
            <a:ext cx="571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0F62FE"/>
                </a:solidFill>
                <a:latin typeface="Arial"/>
                <a:ea typeface="Arial"/>
                <a:cs typeface="Arial"/>
              </a:defRPr>
            </a:defPPr>
          </a:lstStyle>
          <a:p xmlns:a="http://schemas.openxmlformats.org/drawingml/2006/main">
            <a:pPr algn="l">
              <a:defRPr sz="1050" b="1">
                <a:solidFill>
                  <a:srgbClr val="0F62FE"/>
                </a:solidFill>
                <a:latin typeface="Arial"/>
                <a:ea typeface="Arial"/>
                <a:cs typeface="Arial"/>
              </a:defRPr>
            </a:pPr>
            <a:r>
              <a:rPr sz="1050" b="1">
                <a:solidFill>
                  <a:srgbClr val="0F62FE"/>
                </a:solidFill>
                <a:latin typeface="Arial"/>
                <a:ea typeface="Arial"/>
                <a:cs typeface="Arial"/>
              </a:rPr>
              <a:t>BIDSENTRY AI  /  IBM SKILLSBUILD 2026</a:t>
            </a:r>
          </a:p>
        </p:txBody>
      </p:sp>
      <p:sp>
        <p:nvSpPr>
          <p:cNvPr id="3" name="slide-title">
            <a:extLst xmlns:a="http://schemas.openxmlformats.org/drawingml/2006/main">
              <a:ext uri="{FF2B5EF4-FFF2-40B4-BE49-F238E27FC236}">
                <a16:creationId xmlns:a16="http://schemas.microsoft.com/office/drawing/2014/main" id="{D924E4DA-935D-4420-AD07-C8B0554DFBD9}"/>
              </a:ext>
            </a:extLst>
          </p:cNvPr>
          <p:cNvSpPr>
            <a:spLocks xmlns:a="http://schemas.openxmlformats.org/drawingml/2006/main" noGrp="1"/>
          </p:cNvSpPr>
          <p:nvPr/>
        </p:nvSpPr>
        <p:spPr>
          <a:xfrm xmlns:a="http://schemas.openxmlformats.org/drawingml/2006/main">
            <a:off x="685800" y="714375"/>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0B1728"/>
                </a:solidFill>
                <a:latin typeface="Arial"/>
                <a:ea typeface="Arial"/>
                <a:cs typeface="Arial"/>
              </a:defRPr>
            </a:defPPr>
          </a:lstStyle>
          <a:p xmlns:a="http://schemas.openxmlformats.org/drawingml/2006/main">
            <a:pPr algn="l">
              <a:lnSpc>
                <a:spcPct val="96000"/>
              </a:lnSpc>
              <a:buNone/>
              <a:defRPr sz="3000" b="1">
                <a:solidFill>
                  <a:srgbClr val="0B1728"/>
                </a:solidFill>
                <a:latin typeface="Arial"/>
                <a:ea typeface="Arial"/>
                <a:cs typeface="Arial"/>
              </a:defRPr>
            </a:pPr>
            <a:r>
              <a:rPr sz="3000" b="1">
                <a:solidFill>
                  <a:srgbClr val="0B1728"/>
                </a:solidFill>
                <a:latin typeface="Arial"/>
                <a:ea typeface="Arial"/>
                <a:cs typeface="Arial"/>
              </a:rPr>
              <a:t>Dashboard membuat risiko mudah dipindai</a:t>
            </a:r>
          </a:p>
        </p:txBody>
      </p:sp>
      <p:sp>
        <p:nvSpPr>
          <p:cNvPr id="4" name="key-takeaway">
            <a:extLst xmlns:a="http://schemas.openxmlformats.org/drawingml/2006/main">
              <a:ext uri="{FF2B5EF4-FFF2-40B4-BE49-F238E27FC236}">
                <a16:creationId xmlns:a16="http://schemas.microsoft.com/office/drawing/2014/main" id="{954CB4DF-4A71-42C7-A4DC-B8A629B51E70}"/>
              </a:ext>
            </a:extLst>
          </p:cNvPr>
          <p:cNvSpPr>
            <a:spLocks xmlns:a="http://schemas.openxmlformats.org/drawingml/2006/main" noGrp="1"/>
          </p:cNvSpPr>
          <p:nvPr/>
        </p:nvSpPr>
        <p:spPr>
          <a:xfrm xmlns:a="http://schemas.openxmlformats.org/drawingml/2006/main">
            <a:off x="685800" y="13144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2B4D"/>
                </a:solidFill>
                <a:latin typeface="Arial"/>
                <a:ea typeface="Arial"/>
                <a:cs typeface="Arial"/>
              </a:defRPr>
            </a:defPPr>
          </a:lstStyle>
          <a:p xmlns:a="http://schemas.openxmlformats.org/drawingml/2006/main">
            <a:pPr algn="l">
              <a:lnSpc>
                <a:spcPct val="100000"/>
              </a:lnSpc>
              <a:buNone/>
              <a:defRPr sz="1650" b="1">
                <a:solidFill>
                  <a:srgbClr val="172B4D"/>
                </a:solidFill>
                <a:latin typeface="Arial"/>
                <a:ea typeface="Arial"/>
                <a:cs typeface="Arial"/>
              </a:defRPr>
            </a:pPr>
            <a:r>
              <a:rPr sz="1650" b="1">
                <a:solidFill>
                  <a:srgbClr val="172B4D"/>
                </a:solidFill>
                <a:latin typeface="Arial"/>
                <a:ea typeface="Arial"/>
                <a:cs typeface="Arial"/>
              </a:rPr>
              <a:t>Skenario demo menampilkan kategori TINGGI beserta alasan sebelum keputusan manusia.</a:t>
            </a:r>
          </a:p>
        </p:txBody>
      </p:sp>
      <p:sp>
        <p:nvSpPr>
          <p:cNvPr id="5" name="page-number">
            <a:extLst xmlns:a="http://schemas.openxmlformats.org/drawingml/2006/main">
              <a:ext uri="{FF2B5EF4-FFF2-40B4-BE49-F238E27FC236}">
                <a16:creationId xmlns:a16="http://schemas.microsoft.com/office/drawing/2014/main" id="{EBB83513-99A6-46C8-B3E2-0232682A8243}"/>
              </a:ext>
            </a:extLst>
          </p:cNvPr>
          <p:cNvSpPr>
            <a:spLocks xmlns:a="http://schemas.openxmlformats.org/drawingml/2006/main" noGrp="1"/>
          </p:cNvSpPr>
          <p:nvPr/>
        </p:nvSpPr>
        <p:spPr>
          <a:xfrm xmlns:a="http://schemas.openxmlformats.org/drawingml/2006/main">
            <a:off x="10668000" y="64770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0">
                <a:solidFill>
                  <a:srgbClr val="526178"/>
                </a:solidFill>
                <a:latin typeface="Arial"/>
                <a:ea typeface="Arial"/>
                <a:cs typeface="Arial"/>
              </a:defRPr>
            </a:defPPr>
          </a:lstStyle>
          <a:p xmlns:a="http://schemas.openxmlformats.org/drawingml/2006/main">
            <a:pPr algn="r">
              <a:defRPr sz="975" b="0">
                <a:solidFill>
                  <a:srgbClr val="526178"/>
                </a:solidFill>
                <a:latin typeface="Arial"/>
                <a:ea typeface="Arial"/>
                <a:cs typeface="Arial"/>
              </a:defRPr>
            </a:pPr>
            <a:r>
              <a:rPr sz="975" b="0">
                <a:solidFill>
                  <a:srgbClr val="526178"/>
                </a:solidFill>
                <a:latin typeface="Arial"/>
                <a:ea typeface="Arial"/>
                <a:cs typeface="Arial"/>
              </a:rPr>
              <a:t>05 / 10</a:t>
            </a:r>
          </a:p>
        </p:txBody>
      </p:sp>
      <p:sp>
        <p:nvSpPr>
          <p:cNvPr id="6" name="dashboard-risk-label">
            <a:extLst xmlns:a="http://schemas.openxmlformats.org/drawingml/2006/main">
              <a:ext uri="{FF2B5EF4-FFF2-40B4-BE49-F238E27FC236}">
                <a16:creationId xmlns:a16="http://schemas.microsoft.com/office/drawing/2014/main" id="{A3D7508C-447E-4A93-8FFD-9706789996FE}"/>
              </a:ext>
            </a:extLst>
          </p:cNvPr>
          <p:cNvSpPr>
            <a:spLocks xmlns:a="http://schemas.openxmlformats.org/drawingml/2006/main" noGrp="1"/>
          </p:cNvSpPr>
          <p:nvPr/>
        </p:nvSpPr>
        <p:spPr>
          <a:xfrm xmlns:a="http://schemas.openxmlformats.org/drawingml/2006/main">
            <a:off x="685800" y="23336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1">
                <a:solidFill>
                  <a:srgbClr val="DA1E28"/>
                </a:solidFill>
                <a:latin typeface="Arial"/>
                <a:ea typeface="Arial"/>
                <a:cs typeface="Arial"/>
              </a:defRPr>
            </a:defPPr>
          </a:lstStyle>
          <a:p xmlns:a="http://schemas.openxmlformats.org/drawingml/2006/main">
            <a:pPr algn="l">
              <a:defRPr sz="1200" b="1">
                <a:solidFill>
                  <a:srgbClr val="DA1E28"/>
                </a:solidFill>
                <a:latin typeface="Arial"/>
                <a:ea typeface="Arial"/>
                <a:cs typeface="Arial"/>
              </a:defRPr>
            </a:pPr>
            <a:r>
              <a:rPr sz="1200" b="1">
                <a:solidFill>
                  <a:srgbClr val="DA1E28"/>
                </a:solidFill>
                <a:latin typeface="Arial"/>
                <a:ea typeface="Arial"/>
                <a:cs typeface="Arial"/>
              </a:rPr>
              <a:t>RISK TRIAGE</a:t>
            </a:r>
          </a:p>
        </p:txBody>
      </p:sp>
      <p:sp>
        <p:nvSpPr>
          <p:cNvPr id="7" name="dashboard-risk">
            <a:extLst xmlns:a="http://schemas.openxmlformats.org/drawingml/2006/main">
              <a:ext uri="{FF2B5EF4-FFF2-40B4-BE49-F238E27FC236}">
                <a16:creationId xmlns:a16="http://schemas.microsoft.com/office/drawing/2014/main" id="{BD8C3ECB-32B3-439F-9B8B-169AF6844ED5}"/>
              </a:ext>
            </a:extLst>
          </p:cNvPr>
          <p:cNvSpPr>
            <a:spLocks xmlns:a="http://schemas.openxmlformats.org/drawingml/2006/main" noGrp="1"/>
          </p:cNvSpPr>
          <p:nvPr/>
        </p:nvSpPr>
        <p:spPr>
          <a:xfrm xmlns:a="http://schemas.openxmlformats.org/drawingml/2006/main">
            <a:off x="685800" y="2638425"/>
            <a:ext cx="3810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4350" b="1">
                <a:solidFill>
                  <a:srgbClr val="DA1E28"/>
                </a:solidFill>
                <a:latin typeface="Arial"/>
                <a:ea typeface="Arial"/>
                <a:cs typeface="Arial"/>
              </a:defRPr>
            </a:defPPr>
          </a:lstStyle>
          <a:p xmlns:a="http://schemas.openxmlformats.org/drawingml/2006/main">
            <a:pPr algn="l">
              <a:defRPr sz="4350" b="1">
                <a:solidFill>
                  <a:srgbClr val="DA1E28"/>
                </a:solidFill>
                <a:latin typeface="Arial"/>
                <a:ea typeface="Arial"/>
                <a:cs typeface="Arial"/>
              </a:defRPr>
            </a:pPr>
            <a:r>
              <a:rPr sz="4350" b="1">
                <a:solidFill>
                  <a:srgbClr val="DA1E28"/>
                </a:solidFill>
                <a:latin typeface="Arial"/>
                <a:ea typeface="Arial"/>
                <a:cs typeface="Arial"/>
              </a:rPr>
              <a:t>TINGGI</a:t>
            </a:r>
          </a:p>
        </p:txBody>
      </p:sp>
      <p:sp>
        <p:nvSpPr>
          <p:cNvPr id="8" name="dashboard-verdict">
            <a:extLst xmlns:a="http://schemas.openxmlformats.org/drawingml/2006/main">
              <a:ext uri="{FF2B5EF4-FFF2-40B4-BE49-F238E27FC236}">
                <a16:creationId xmlns:a16="http://schemas.microsoft.com/office/drawing/2014/main" id="{B80AA4E1-09CE-4950-998C-60692AB9554C}"/>
              </a:ext>
            </a:extLst>
          </p:cNvPr>
          <p:cNvSpPr>
            <a:spLocks xmlns:a="http://schemas.openxmlformats.org/drawingml/2006/main" noGrp="1"/>
          </p:cNvSpPr>
          <p:nvPr/>
        </p:nvSpPr>
        <p:spPr>
          <a:xfrm xmlns:a="http://schemas.openxmlformats.org/drawingml/2006/main">
            <a:off x="685800" y="3476625"/>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950" b="1">
                <a:solidFill>
                  <a:srgbClr val="9F6B00"/>
                </a:solidFill>
                <a:latin typeface="Arial"/>
                <a:ea typeface="Arial"/>
                <a:cs typeface="Arial"/>
              </a:defRPr>
            </a:defPPr>
          </a:lstStyle>
          <a:p xmlns:a="http://schemas.openxmlformats.org/drawingml/2006/main">
            <a:pPr algn="l">
              <a:defRPr sz="1950" b="1">
                <a:solidFill>
                  <a:srgbClr val="9F6B00"/>
                </a:solidFill>
                <a:latin typeface="Arial"/>
                <a:ea typeface="Arial"/>
                <a:cs typeface="Arial"/>
              </a:defRPr>
            </a:pPr>
            <a:r>
              <a:rPr sz="1950" b="1">
                <a:solidFill>
                  <a:srgbClr val="9F6B00"/>
                </a:solidFill>
                <a:latin typeface="Arial"/>
                <a:ea typeface="Arial"/>
                <a:cs typeface="Arial"/>
              </a:rPr>
              <a:t>GO-WITH-CAUTION</a:t>
            </a:r>
          </a:p>
        </p:txBody>
      </p:sp>
      <p:sp>
        <p:nvSpPr>
          <p:cNvPr id="9" name="dashboard-copy">
            <a:extLst xmlns:a="http://schemas.openxmlformats.org/drawingml/2006/main">
              <a:ext uri="{FF2B5EF4-FFF2-40B4-BE49-F238E27FC236}">
                <a16:creationId xmlns:a16="http://schemas.microsoft.com/office/drawing/2014/main" id="{75D35EA7-39BB-4D9C-B618-3B3CABADEB03}"/>
              </a:ext>
            </a:extLst>
          </p:cNvPr>
          <p:cNvSpPr>
            <a:spLocks xmlns:a="http://schemas.openxmlformats.org/drawingml/2006/main" noGrp="1"/>
          </p:cNvSpPr>
          <p:nvPr/>
        </p:nvSpPr>
        <p:spPr>
          <a:xfrm xmlns:a="http://schemas.openxmlformats.org/drawingml/2006/main">
            <a:off x="685800" y="4029075"/>
            <a:ext cx="37909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defPPr algn="l">
              <a:defRPr sz="1575" b="0">
                <a:solidFill>
                  <a:srgbClr val="172B4D"/>
                </a:solidFill>
                <a:latin typeface="Arial"/>
                <a:ea typeface="Arial"/>
                <a:cs typeface="Arial"/>
              </a:defRPr>
            </a:defPPr>
          </a:lstStyle>
          <a:p xmlns:a="http://schemas.openxmlformats.org/drawingml/2006/main">
            <a:pPr algn="l">
              <a:lnSpc>
                <a:spcPct val="110000"/>
              </a:lnSpc>
              <a:buNone/>
              <a:defRPr sz="1575" b="0">
                <a:solidFill>
                  <a:srgbClr val="172B4D"/>
                </a:solidFill>
                <a:latin typeface="Arial"/>
                <a:ea typeface="Arial"/>
                <a:cs typeface="Arial"/>
              </a:defRPr>
            </a:pPr>
            <a:r>
              <a:rPr sz="1575" b="0">
                <a:solidFill>
                  <a:srgbClr val="172B4D"/>
                </a:solidFill>
                <a:latin typeface="Arial"/>
                <a:ea typeface="Arial"/>
                <a:cs typeface="Arial"/>
              </a:rPr>
              <a:t>Sinyal demo: perubahan adendum, kredensial yang segera kedaluwarsa, dan klausul kontrak yang dapat menunda pembayaran atau memperbesar eksposur denda.</a:t>
            </a:r>
          </a:p>
        </p:txBody>
      </p:sp>
      <p:sp>
        <p:nvSpPr>
          <p:cNvPr id="10" name="dashboard-caveat">
            <a:extLst xmlns:a="http://schemas.openxmlformats.org/drawingml/2006/main">
              <a:ext uri="{FF2B5EF4-FFF2-40B4-BE49-F238E27FC236}">
                <a16:creationId xmlns:a16="http://schemas.microsoft.com/office/drawing/2014/main" id="{D747F3EF-8FED-4CF4-B849-9545E6238A8B}"/>
              </a:ext>
            </a:extLst>
          </p:cNvPr>
          <p:cNvSpPr>
            <a:spLocks xmlns:a="http://schemas.openxmlformats.org/drawingml/2006/main" noGrp="1"/>
          </p:cNvSpPr>
          <p:nvPr/>
        </p:nvSpPr>
        <p:spPr>
          <a:xfrm xmlns:a="http://schemas.openxmlformats.org/drawingml/2006/main">
            <a:off x="685800" y="5448300"/>
            <a:ext cx="37909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defRPr sz="1350" b="0">
                <a:solidFill>
                  <a:srgbClr val="526178"/>
                </a:solidFill>
                <a:latin typeface="Arial"/>
                <a:ea typeface="Arial"/>
                <a:cs typeface="Arial"/>
              </a:defRPr>
            </a:pPr>
            <a:r>
              <a:rPr sz="1350" b="0">
                <a:solidFill>
                  <a:srgbClr val="526178"/>
                </a:solidFill>
                <a:latin typeface="Arial"/>
                <a:ea typeface="Arial"/>
                <a:cs typeface="Arial"/>
              </a:rPr>
              <a:t>Label berasal dari skenario UI statis, bukan prediksi terkalibrasi.</a:t>
            </a:r>
          </a:p>
        </p:txBody>
      </p:sp>
      <p:sp>
        <p:nvSpPr>
          <p:cNvPr id="11" name="dashboard-shot-frame">
            <a:extLst xmlns:a="http://schemas.openxmlformats.org/drawingml/2006/main">
              <a:ext uri="{FF2B5EF4-FFF2-40B4-BE49-F238E27FC236}">
                <a16:creationId xmlns:a16="http://schemas.microsoft.com/office/drawing/2014/main" id="{777EDC8D-8BB7-440E-8F56-DA6829332C52}"/>
              </a:ext>
            </a:extLst>
          </p:cNvPr>
          <p:cNvSpPr>
            <a:spLocks xmlns:a="http://schemas.openxmlformats.org/drawingml/2006/main" noGrp="1"/>
          </p:cNvSpPr>
          <p:nvPr/>
        </p:nvSpPr>
        <p:spPr>
          <a:xfrm xmlns:a="http://schemas.openxmlformats.org/drawingml/2006/main">
            <a:off x="4819650" y="2171700"/>
            <a:ext cx="6724650" cy="4505325"/>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prstDash val="solid"/>
          </a:ln>
        </p:spPr>
      </p:sp>
      <p:pic>
        <p:nvPicPr>
          <p:cNvPr id="12" name="">
            <a:extLst xmlns:a="http://schemas.openxmlformats.org/drawingml/2006/main">
              <a:ext uri="{FF2B5EF4-FFF2-40B4-BE49-F238E27FC236}">
                <a16:creationId xmlns:a16="http://schemas.microsoft.com/office/drawing/2014/main" id="{0D8FC84A-6192-4C5C-8E24-E01EB649C4EA}"/>
              </a:ext>
            </a:extLst>
          </p:cNvPr>
          <p:cNvPicPr>
            <a:picLocks xmlns:a="http://schemas.openxmlformats.org/drawingml/2006/main" noChangeAspect="1"/>
          </p:cNvPicPr>
          <p:nvPr/>
        </p:nvPicPr>
        <p:blipFill>
          <a:blip xmlns:r="http://schemas.openxmlformats.org/officeDocument/2006/relationships" xmlns:a="http://schemas.openxmlformats.org/drawingml/2006/main" r:embed="R0b0b515d4f5e4eef"/>
          <a:stretch xmlns:a="http://schemas.openxmlformats.org/drawingml/2006/main"/>
        </p:blipFill>
        <p:spPr>
          <a:xfrm xmlns:a="http://schemas.openxmlformats.org/drawingml/2006/main">
            <a:off x="4860131" y="2209800"/>
            <a:ext cx="6643688" cy="4429125"/>
          </a:xfrm>
          <a:prstGeom xmlns:a="http://schemas.openxmlformats.org/drawingml/2006/main" prst="rect">
            <a:avLst/>
          </a:prstGeom>
        </p:spPr>
      </p:pic>
    </p:spTree>
    <p:extLst>
      <p:ext uri="{BB962C8B-B14F-4D97-AF65-F5344CB8AC3E}">
        <p14:creationId xmlns:p14="http://schemas.microsoft.com/office/powerpoint/2010/main" val="164294562"/>
      </p:ext>
    </p:extLst>
  </p:cSld>
</p:sld>
</file>

<file path=ppt/slides/slide6.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4" name="brand-mark">
            <a:extLst xmlns:a="http://schemas.openxmlformats.org/drawingml/2006/main">
              <a:ext uri="{FF2B5EF4-FFF2-40B4-BE49-F238E27FC236}">
                <a16:creationId xmlns:a16="http://schemas.microsoft.com/office/drawing/2014/main" id="{B0CEF330-9562-48BC-96F5-A26B26854CD7}"/>
              </a:ext>
            </a:extLst>
          </p:cNvPr>
          <p:cNvSpPr>
            <a:spLocks xmlns:a="http://schemas.openxmlformats.org/drawingml/2006/main" noGrp="1"/>
          </p:cNvSpPr>
          <p:nvPr/>
        </p:nvSpPr>
        <p:spPr>
          <a:xfrm xmlns:a="http://schemas.openxmlformats.org/drawingml/2006/main">
            <a:off x="685800" y="371475"/>
            <a:ext cx="47625" cy="171450"/>
          </a:xfrm>
          <a:prstGeom xmlns:a="http://schemas.openxmlformats.org/drawingml/2006/main" prst="rect">
            <a:avLst/>
          </a:prstGeom>
          <a:solidFill xmlns:a="http://schemas.openxmlformats.org/drawingml/2006/main">
            <a:srgbClr val="0F62FE"/>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E78291F9-5FF8-4CCE-AD21-7000E520AC63}"/>
              </a:ext>
            </a:extLst>
          </p:cNvPr>
          <p:cNvSpPr>
            <a:spLocks xmlns:a="http://schemas.openxmlformats.org/drawingml/2006/main" noGrp="1"/>
          </p:cNvSpPr>
          <p:nvPr/>
        </p:nvSpPr>
        <p:spPr>
          <a:xfrm xmlns:a="http://schemas.openxmlformats.org/drawingml/2006/main">
            <a:off x="838200" y="361950"/>
            <a:ext cx="571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0F62FE"/>
                </a:solidFill>
                <a:latin typeface="Arial"/>
                <a:ea typeface="Arial"/>
                <a:cs typeface="Arial"/>
              </a:defRPr>
            </a:defPPr>
          </a:lstStyle>
          <a:p xmlns:a="http://schemas.openxmlformats.org/drawingml/2006/main">
            <a:pPr algn="l">
              <a:defRPr sz="1050" b="1">
                <a:solidFill>
                  <a:srgbClr val="0F62FE"/>
                </a:solidFill>
                <a:latin typeface="Arial"/>
                <a:ea typeface="Arial"/>
                <a:cs typeface="Arial"/>
              </a:defRPr>
            </a:pPr>
            <a:r>
              <a:rPr sz="1050" b="1">
                <a:solidFill>
                  <a:srgbClr val="0F62FE"/>
                </a:solidFill>
                <a:latin typeface="Arial"/>
                <a:ea typeface="Arial"/>
                <a:cs typeface="Arial"/>
              </a:rPr>
              <a:t>BIDSENTRY AI  /  IBM SKILLSBUILD 2026</a:t>
            </a:r>
          </a:p>
        </p:txBody>
      </p:sp>
      <p:sp>
        <p:nvSpPr>
          <p:cNvPr id="3" name="slide-title">
            <a:extLst xmlns:a="http://schemas.openxmlformats.org/drawingml/2006/main">
              <a:ext uri="{FF2B5EF4-FFF2-40B4-BE49-F238E27FC236}">
                <a16:creationId xmlns:a16="http://schemas.microsoft.com/office/drawing/2014/main" id="{4B154883-3C45-4C88-814F-47A408BE6152}"/>
              </a:ext>
            </a:extLst>
          </p:cNvPr>
          <p:cNvSpPr>
            <a:spLocks xmlns:a="http://schemas.openxmlformats.org/drawingml/2006/main" noGrp="1"/>
          </p:cNvSpPr>
          <p:nvPr/>
        </p:nvSpPr>
        <p:spPr>
          <a:xfrm xmlns:a="http://schemas.openxmlformats.org/drawingml/2006/main">
            <a:off x="685800" y="714375"/>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0B1728"/>
                </a:solidFill>
                <a:latin typeface="Arial"/>
                <a:ea typeface="Arial"/>
                <a:cs typeface="Arial"/>
              </a:defRPr>
            </a:defPPr>
          </a:lstStyle>
          <a:p xmlns:a="http://schemas.openxmlformats.org/drawingml/2006/main">
            <a:pPr algn="l">
              <a:lnSpc>
                <a:spcPct val="96000"/>
              </a:lnSpc>
              <a:buNone/>
              <a:defRPr sz="3000" b="1">
                <a:solidFill>
                  <a:srgbClr val="0B1728"/>
                </a:solidFill>
                <a:latin typeface="Arial"/>
                <a:ea typeface="Arial"/>
                <a:cs typeface="Arial"/>
              </a:defRPr>
            </a:pPr>
            <a:r>
              <a:rPr sz="3000" b="1">
                <a:solidFill>
                  <a:srgbClr val="0B1728"/>
                </a:solidFill>
                <a:latin typeface="Arial"/>
                <a:ea typeface="Arial"/>
                <a:cs typeface="Arial"/>
              </a:rPr>
              <a:t>Audit kustom menautkan persyaratan ke bukti</a:t>
            </a:r>
          </a:p>
        </p:txBody>
      </p:sp>
      <p:sp>
        <p:nvSpPr>
          <p:cNvPr id="4" name="key-takeaway">
            <a:extLst xmlns:a="http://schemas.openxmlformats.org/drawingml/2006/main">
              <a:ext uri="{FF2B5EF4-FFF2-40B4-BE49-F238E27FC236}">
                <a16:creationId xmlns:a16="http://schemas.microsoft.com/office/drawing/2014/main" id="{FF480A24-1C09-4D1A-8B2F-96C769A7A6F5}"/>
              </a:ext>
            </a:extLst>
          </p:cNvPr>
          <p:cNvSpPr>
            <a:spLocks xmlns:a="http://schemas.openxmlformats.org/drawingml/2006/main" noGrp="1"/>
          </p:cNvSpPr>
          <p:nvPr/>
        </p:nvSpPr>
        <p:spPr>
          <a:xfrm xmlns:a="http://schemas.openxmlformats.org/drawingml/2006/main">
            <a:off x="685800" y="13144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2B4D"/>
                </a:solidFill>
                <a:latin typeface="Arial"/>
                <a:ea typeface="Arial"/>
                <a:cs typeface="Arial"/>
              </a:defRPr>
            </a:defPPr>
          </a:lstStyle>
          <a:p xmlns:a="http://schemas.openxmlformats.org/drawingml/2006/main">
            <a:pPr algn="l">
              <a:lnSpc>
                <a:spcPct val="100000"/>
              </a:lnSpc>
              <a:buNone/>
              <a:defRPr sz="1650" b="1">
                <a:solidFill>
                  <a:srgbClr val="172B4D"/>
                </a:solidFill>
                <a:latin typeface="Arial"/>
                <a:ea typeface="Arial"/>
                <a:cs typeface="Arial"/>
              </a:defRPr>
            </a:pPr>
            <a:r>
              <a:rPr sz="1650" b="1">
                <a:solidFill>
                  <a:srgbClr val="172B4D"/>
                </a:solidFill>
                <a:latin typeface="Arial"/>
                <a:ea typeface="Arial"/>
                <a:cs typeface="Arial"/>
              </a:rPr>
              <a:t>Tiga input dokumen menghasilkan matriks klausul dengan status dan bukti.</a:t>
            </a:r>
          </a:p>
        </p:txBody>
      </p:sp>
      <p:sp>
        <p:nvSpPr>
          <p:cNvPr id="5" name="page-number">
            <a:extLst xmlns:a="http://schemas.openxmlformats.org/drawingml/2006/main">
              <a:ext uri="{FF2B5EF4-FFF2-40B4-BE49-F238E27FC236}">
                <a16:creationId xmlns:a16="http://schemas.microsoft.com/office/drawing/2014/main" id="{BC2F8A08-661A-4819-A416-B960A7AB4BB9}"/>
              </a:ext>
            </a:extLst>
          </p:cNvPr>
          <p:cNvSpPr>
            <a:spLocks xmlns:a="http://schemas.openxmlformats.org/drawingml/2006/main" noGrp="1"/>
          </p:cNvSpPr>
          <p:nvPr/>
        </p:nvSpPr>
        <p:spPr>
          <a:xfrm xmlns:a="http://schemas.openxmlformats.org/drawingml/2006/main">
            <a:off x="10668000" y="64770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0">
                <a:solidFill>
                  <a:srgbClr val="526178"/>
                </a:solidFill>
                <a:latin typeface="Arial"/>
                <a:ea typeface="Arial"/>
                <a:cs typeface="Arial"/>
              </a:defRPr>
            </a:defPPr>
          </a:lstStyle>
          <a:p xmlns:a="http://schemas.openxmlformats.org/drawingml/2006/main">
            <a:pPr algn="r">
              <a:defRPr sz="975" b="0">
                <a:solidFill>
                  <a:srgbClr val="526178"/>
                </a:solidFill>
                <a:latin typeface="Arial"/>
                <a:ea typeface="Arial"/>
                <a:cs typeface="Arial"/>
              </a:defRPr>
            </a:pPr>
            <a:r>
              <a:rPr sz="975" b="0">
                <a:solidFill>
                  <a:srgbClr val="526178"/>
                </a:solidFill>
                <a:latin typeface="Arial"/>
                <a:ea typeface="Arial"/>
                <a:cs typeface="Arial"/>
              </a:rPr>
              <a:t>06 / 10</a:t>
            </a:r>
          </a:p>
        </p:txBody>
      </p:sp>
      <p:sp>
        <p:nvSpPr>
          <p:cNvPr id="6" name="audit-input-label">
            <a:extLst xmlns:a="http://schemas.openxmlformats.org/drawingml/2006/main">
              <a:ext uri="{FF2B5EF4-FFF2-40B4-BE49-F238E27FC236}">
                <a16:creationId xmlns:a16="http://schemas.microsoft.com/office/drawing/2014/main" id="{C0F6FC63-00B2-438D-BADB-CF09FCC3C8B8}"/>
              </a:ext>
            </a:extLst>
          </p:cNvPr>
          <p:cNvSpPr>
            <a:spLocks xmlns:a="http://schemas.openxmlformats.org/drawingml/2006/main" noGrp="1"/>
          </p:cNvSpPr>
          <p:nvPr/>
        </p:nvSpPr>
        <p:spPr>
          <a:xfrm xmlns:a="http://schemas.openxmlformats.org/drawingml/2006/main">
            <a:off x="685800" y="2171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F62FE"/>
                </a:solidFill>
                <a:latin typeface="Arial"/>
                <a:ea typeface="Arial"/>
                <a:cs typeface="Arial"/>
              </a:defRPr>
            </a:defPPr>
          </a:lstStyle>
          <a:p xmlns:a="http://schemas.openxmlformats.org/drawingml/2006/main">
            <a:pPr algn="l">
              <a:defRPr sz="1125" b="1">
                <a:solidFill>
                  <a:srgbClr val="0F62FE"/>
                </a:solidFill>
                <a:latin typeface="Arial"/>
                <a:ea typeface="Arial"/>
                <a:cs typeface="Arial"/>
              </a:defRPr>
            </a:pPr>
            <a:r>
              <a:rPr sz="1125" b="1">
                <a:solidFill>
                  <a:srgbClr val="0F62FE"/>
                </a:solidFill>
                <a:latin typeface="Arial"/>
                <a:ea typeface="Arial"/>
                <a:cs typeface="Arial"/>
              </a:rPr>
              <a:t>INPUT AUDIT KUSTOM</a:t>
            </a:r>
          </a:p>
        </p:txBody>
      </p:sp>
      <p:sp>
        <p:nvSpPr>
          <p:cNvPr id="7" name="audit-matrix-label">
            <a:extLst xmlns:a="http://schemas.openxmlformats.org/drawingml/2006/main">
              <a:ext uri="{FF2B5EF4-FFF2-40B4-BE49-F238E27FC236}">
                <a16:creationId xmlns:a16="http://schemas.microsoft.com/office/drawing/2014/main" id="{E1A145E9-80F4-4DAE-B1BE-286C9DCA24F3}"/>
              </a:ext>
            </a:extLst>
          </p:cNvPr>
          <p:cNvSpPr>
            <a:spLocks xmlns:a="http://schemas.openxmlformats.org/drawingml/2006/main" noGrp="1"/>
          </p:cNvSpPr>
          <p:nvPr/>
        </p:nvSpPr>
        <p:spPr>
          <a:xfrm xmlns:a="http://schemas.openxmlformats.org/drawingml/2006/main">
            <a:off x="5981700" y="2171700"/>
            <a:ext cx="552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F62FE"/>
                </a:solidFill>
                <a:latin typeface="Arial"/>
                <a:ea typeface="Arial"/>
                <a:cs typeface="Arial"/>
              </a:defRPr>
            </a:defPPr>
          </a:lstStyle>
          <a:p xmlns:a="http://schemas.openxmlformats.org/drawingml/2006/main">
            <a:pPr algn="l">
              <a:defRPr sz="1125" b="1">
                <a:solidFill>
                  <a:srgbClr val="0F62FE"/>
                </a:solidFill>
                <a:latin typeface="Arial"/>
                <a:ea typeface="Arial"/>
                <a:cs typeface="Arial"/>
              </a:defRPr>
            </a:pPr>
            <a:r>
              <a:rPr sz="1125" b="1">
                <a:solidFill>
                  <a:srgbClr val="0F62FE"/>
                </a:solidFill>
                <a:latin typeface="Arial"/>
                <a:ea typeface="Arial"/>
                <a:cs typeface="Arial"/>
              </a:rPr>
              <a:t>MATRIKS HASIL</a:t>
            </a:r>
          </a:p>
        </p:txBody>
      </p:sp>
      <p:sp>
        <p:nvSpPr>
          <p:cNvPr id="8" name="audit-input-shot-frame">
            <a:extLst xmlns:a="http://schemas.openxmlformats.org/drawingml/2006/main">
              <a:ext uri="{FF2B5EF4-FFF2-40B4-BE49-F238E27FC236}">
                <a16:creationId xmlns:a16="http://schemas.microsoft.com/office/drawing/2014/main" id="{628CBA87-52C2-4B52-A4B6-A93CFD6A793E}"/>
              </a:ext>
            </a:extLst>
          </p:cNvPr>
          <p:cNvSpPr>
            <a:spLocks xmlns:a="http://schemas.openxmlformats.org/drawingml/2006/main" noGrp="1"/>
          </p:cNvSpPr>
          <p:nvPr/>
        </p:nvSpPr>
        <p:spPr>
          <a:xfrm xmlns:a="http://schemas.openxmlformats.org/drawingml/2006/main">
            <a:off x="647700" y="2438400"/>
            <a:ext cx="5029200" cy="32194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prstDash val="solid"/>
          </a:ln>
        </p:spPr>
      </p:sp>
      <p:pic>
        <p:nvPicPr>
          <p:cNvPr id="9" name="">
            <a:extLst xmlns:a="http://schemas.openxmlformats.org/drawingml/2006/main">
              <a:ext uri="{FF2B5EF4-FFF2-40B4-BE49-F238E27FC236}">
                <a16:creationId xmlns:a16="http://schemas.microsoft.com/office/drawing/2014/main" id="{0BDC6362-31EA-4643-9DE9-896F98DC7D8B}"/>
              </a:ext>
            </a:extLst>
          </p:cNvPr>
          <p:cNvPicPr>
            <a:picLocks xmlns:a="http://schemas.openxmlformats.org/drawingml/2006/main" noChangeAspect="1"/>
          </p:cNvPicPr>
          <p:nvPr/>
        </p:nvPicPr>
        <p:blipFill>
          <a:blip xmlns:r="http://schemas.openxmlformats.org/officeDocument/2006/relationships" xmlns:a="http://schemas.openxmlformats.org/drawingml/2006/main" r:embed="R9a4b9ee00274474d"/>
          <a:stretch xmlns:a="http://schemas.openxmlformats.org/drawingml/2006/main"/>
        </p:blipFill>
        <p:spPr>
          <a:xfrm xmlns:a="http://schemas.openxmlformats.org/drawingml/2006/main">
            <a:off x="971155" y="2476500"/>
            <a:ext cx="4382290" cy="3143250"/>
          </a:xfrm>
          <a:prstGeom xmlns:a="http://schemas.openxmlformats.org/drawingml/2006/main" prst="rect">
            <a:avLst/>
          </a:prstGeom>
        </p:spPr>
      </p:pic>
      <p:sp>
        <p:nvSpPr>
          <p:cNvPr id="10" name="audit-matrix-shot-frame">
            <a:extLst xmlns:a="http://schemas.openxmlformats.org/drawingml/2006/main">
              <a:ext uri="{FF2B5EF4-FFF2-40B4-BE49-F238E27FC236}">
                <a16:creationId xmlns:a16="http://schemas.microsoft.com/office/drawing/2014/main" id="{1B3D110E-A79C-40F6-9159-C89F8724722A}"/>
              </a:ext>
            </a:extLst>
          </p:cNvPr>
          <p:cNvSpPr>
            <a:spLocks xmlns:a="http://schemas.openxmlformats.org/drawingml/2006/main" noGrp="1"/>
          </p:cNvSpPr>
          <p:nvPr/>
        </p:nvSpPr>
        <p:spPr>
          <a:xfrm xmlns:a="http://schemas.openxmlformats.org/drawingml/2006/main">
            <a:off x="5943600" y="2609850"/>
            <a:ext cx="560070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prstDash val="solid"/>
          </a:ln>
        </p:spPr>
      </p:sp>
      <p:pic>
        <p:nvPicPr>
          <p:cNvPr id="11" name="">
            <a:extLst xmlns:a="http://schemas.openxmlformats.org/drawingml/2006/main">
              <a:ext uri="{FF2B5EF4-FFF2-40B4-BE49-F238E27FC236}">
                <a16:creationId xmlns:a16="http://schemas.microsoft.com/office/drawing/2014/main" id="{99F0BEEF-7392-4950-BDA4-2F18C5DD62AF}"/>
              </a:ext>
            </a:extLst>
          </p:cNvPr>
          <p:cNvPicPr>
            <a:picLocks xmlns:a="http://schemas.openxmlformats.org/drawingml/2006/main" noChangeAspect="1"/>
          </p:cNvPicPr>
          <p:nvPr/>
        </p:nvPicPr>
        <p:blipFill>
          <a:blip xmlns:r="http://schemas.openxmlformats.org/officeDocument/2006/relationships" xmlns:a="http://schemas.openxmlformats.org/drawingml/2006/main" r:embed="R8d193fee4ada4255"/>
          <a:stretch xmlns:a="http://schemas.openxmlformats.org/drawingml/2006/main"/>
        </p:blipFill>
        <p:spPr>
          <a:xfrm xmlns:a="http://schemas.openxmlformats.org/drawingml/2006/main">
            <a:off x="5981700" y="2648104"/>
            <a:ext cx="5524500" cy="2628593"/>
          </a:xfrm>
          <a:prstGeom xmlns:a="http://schemas.openxmlformats.org/drawingml/2006/main" prst="rect">
            <a:avLst/>
          </a:prstGeom>
        </p:spPr>
      </p:pic>
      <p:sp>
        <p:nvSpPr>
          <p:cNvPr id="12" name="audit-flow-copy">
            <a:extLst xmlns:a="http://schemas.openxmlformats.org/drawingml/2006/main">
              <a:ext uri="{FF2B5EF4-FFF2-40B4-BE49-F238E27FC236}">
                <a16:creationId xmlns:a16="http://schemas.microsoft.com/office/drawing/2014/main" id="{59CB115F-D470-4218-9D8F-4B50E8D118BE}"/>
              </a:ext>
            </a:extLst>
          </p:cNvPr>
          <p:cNvSpPr>
            <a:spLocks xmlns:a="http://schemas.openxmlformats.org/drawingml/2006/main" noGrp="1"/>
          </p:cNvSpPr>
          <p:nvPr/>
        </p:nvSpPr>
        <p:spPr>
          <a:xfrm xmlns:a="http://schemas.openxmlformats.org/drawingml/2006/main">
            <a:off x="685800" y="5857875"/>
            <a:ext cx="523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2B4D"/>
                </a:solidFill>
                <a:latin typeface="Arial"/>
                <a:ea typeface="Arial"/>
                <a:cs typeface="Arial"/>
              </a:defRPr>
            </a:defPPr>
          </a:lstStyle>
          <a:p xmlns:a="http://schemas.openxmlformats.org/drawingml/2006/main">
            <a:pPr algn="l">
              <a:lnSpc>
                <a:spcPct val="105000"/>
              </a:lnSpc>
              <a:buNone/>
              <a:defRPr sz="1425" b="0">
                <a:solidFill>
                  <a:srgbClr val="172B4D"/>
                </a:solidFill>
                <a:latin typeface="Arial"/>
                <a:ea typeface="Arial"/>
                <a:cs typeface="Arial"/>
              </a:defRPr>
            </a:pPr>
            <a:r>
              <a:rPr sz="1425" b="0">
                <a:solidFill>
                  <a:srgbClr val="172B4D"/>
                </a:solidFill>
                <a:latin typeface="Arial"/>
                <a:ea typeface="Arial"/>
                <a:cs typeface="Arial"/>
              </a:rPr>
              <a:t>Pengguna menempel RKS/KAK, adendum, dan kredensial. Parser lokal mengisi status klausul dan bukti pada matriks.</a:t>
            </a:r>
          </a:p>
        </p:txBody>
      </p:sp>
      <p:sp>
        <p:nvSpPr>
          <p:cNvPr id="13" name="audit-limit-copy">
            <a:extLst xmlns:a="http://schemas.openxmlformats.org/drawingml/2006/main">
              <a:ext uri="{FF2B5EF4-FFF2-40B4-BE49-F238E27FC236}">
                <a16:creationId xmlns:a16="http://schemas.microsoft.com/office/drawing/2014/main" id="{2550F35D-D7A6-48E1-A201-1C31A1ED589E}"/>
              </a:ext>
            </a:extLst>
          </p:cNvPr>
          <p:cNvSpPr>
            <a:spLocks xmlns:a="http://schemas.openxmlformats.org/drawingml/2006/main" noGrp="1"/>
          </p:cNvSpPr>
          <p:nvPr/>
        </p:nvSpPr>
        <p:spPr>
          <a:xfrm xmlns:a="http://schemas.openxmlformats.org/drawingml/2006/main">
            <a:off x="6191250" y="5857875"/>
            <a:ext cx="5314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29"/>
          </a:bodyPr>
          <a:lstStyle xmlns:a="http://schemas.openxmlformats.org/drawingml/2006/main">
            <a:defPPr algn="l">
              <a:defRPr sz="1425" b="0">
                <a:solidFill>
                  <a:srgbClr val="526178"/>
                </a:solidFill>
                <a:latin typeface="Arial"/>
                <a:ea typeface="Arial"/>
                <a:cs typeface="Arial"/>
              </a:defRPr>
            </a:defPPr>
          </a:lstStyle>
          <a:p xmlns:a="http://schemas.openxmlformats.org/drawingml/2006/main">
            <a:pPr algn="l">
              <a:lnSpc>
                <a:spcPct val="105000"/>
              </a:lnSpc>
              <a:buNone/>
              <a:defRPr sz="1425" b="0">
                <a:solidFill>
                  <a:srgbClr val="526178"/>
                </a:solidFill>
                <a:latin typeface="Arial"/>
                <a:ea typeface="Arial"/>
                <a:cs typeface="Arial"/>
              </a:defRPr>
            </a:pPr>
            <a:r>
              <a:rPr sz="1425" b="0">
                <a:solidFill>
                  <a:srgbClr val="526178"/>
                </a:solidFill>
                <a:latin typeface="Arial"/>
                <a:ea typeface="Arial"/>
                <a:cs typeface="Arial"/>
              </a:rPr>
              <a:t>Skenario finansial memberi sinyal untuk review manusia. MVP belum memiliki model risiko numerik terkalibrasi atau penetapan fraud.</a:t>
            </a:r>
          </a:p>
        </p:txBody>
      </p:sp>
    </p:spTree>
    <p:extLst>
      <p:ext uri="{BB962C8B-B14F-4D97-AF65-F5344CB8AC3E}">
        <p14:creationId xmlns:p14="http://schemas.microsoft.com/office/powerpoint/2010/main" val="301997480"/>
      </p:ext>
    </p:extLst>
  </p:cSld>
</p:sld>
</file>

<file path=ppt/slides/slide7.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9" name="brand-mark">
            <a:extLst xmlns:a="http://schemas.openxmlformats.org/drawingml/2006/main">
              <a:ext uri="{FF2B5EF4-FFF2-40B4-BE49-F238E27FC236}">
                <a16:creationId xmlns:a16="http://schemas.microsoft.com/office/drawing/2014/main" id="{6DE32656-2505-4755-A04A-5A60594B2B49}"/>
              </a:ext>
            </a:extLst>
          </p:cNvPr>
          <p:cNvSpPr>
            <a:spLocks xmlns:a="http://schemas.openxmlformats.org/drawingml/2006/main" noGrp="1"/>
          </p:cNvSpPr>
          <p:nvPr/>
        </p:nvSpPr>
        <p:spPr>
          <a:xfrm xmlns:a="http://schemas.openxmlformats.org/drawingml/2006/main">
            <a:off x="685800" y="371475"/>
            <a:ext cx="47625" cy="171450"/>
          </a:xfrm>
          <a:prstGeom xmlns:a="http://schemas.openxmlformats.org/drawingml/2006/main" prst="rect">
            <a:avLst/>
          </a:prstGeom>
          <a:solidFill xmlns:a="http://schemas.openxmlformats.org/drawingml/2006/main">
            <a:srgbClr val="0F62FE"/>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89FAD97A-7CF8-424B-BCD4-85A2C5982454}"/>
              </a:ext>
            </a:extLst>
          </p:cNvPr>
          <p:cNvSpPr>
            <a:spLocks xmlns:a="http://schemas.openxmlformats.org/drawingml/2006/main" noGrp="1"/>
          </p:cNvSpPr>
          <p:nvPr/>
        </p:nvSpPr>
        <p:spPr>
          <a:xfrm xmlns:a="http://schemas.openxmlformats.org/drawingml/2006/main">
            <a:off x="838200" y="361950"/>
            <a:ext cx="571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0F62FE"/>
                </a:solidFill>
                <a:latin typeface="Arial"/>
                <a:ea typeface="Arial"/>
                <a:cs typeface="Arial"/>
              </a:defRPr>
            </a:defPPr>
          </a:lstStyle>
          <a:p xmlns:a="http://schemas.openxmlformats.org/drawingml/2006/main">
            <a:pPr algn="l">
              <a:defRPr sz="1050" b="1">
                <a:solidFill>
                  <a:srgbClr val="0F62FE"/>
                </a:solidFill>
                <a:latin typeface="Arial"/>
                <a:ea typeface="Arial"/>
                <a:cs typeface="Arial"/>
              </a:defRPr>
            </a:pPr>
            <a:r>
              <a:rPr sz="1050" b="1">
                <a:solidFill>
                  <a:srgbClr val="0F62FE"/>
                </a:solidFill>
                <a:latin typeface="Arial"/>
                <a:ea typeface="Arial"/>
                <a:cs typeface="Arial"/>
              </a:rPr>
              <a:t>BIDSENTRY AI  /  IBM SKILLSBUILD 2026</a:t>
            </a:r>
          </a:p>
        </p:txBody>
      </p:sp>
      <p:sp>
        <p:nvSpPr>
          <p:cNvPr id="3" name="slide-title">
            <a:extLst xmlns:a="http://schemas.openxmlformats.org/drawingml/2006/main">
              <a:ext uri="{FF2B5EF4-FFF2-40B4-BE49-F238E27FC236}">
                <a16:creationId xmlns:a16="http://schemas.microsoft.com/office/drawing/2014/main" id="{7A7F6328-0721-4378-AB99-D7BCBCF60FE5}"/>
              </a:ext>
            </a:extLst>
          </p:cNvPr>
          <p:cNvSpPr>
            <a:spLocks xmlns:a="http://schemas.openxmlformats.org/drawingml/2006/main" noGrp="1"/>
          </p:cNvSpPr>
          <p:nvPr/>
        </p:nvSpPr>
        <p:spPr>
          <a:xfrm xmlns:a="http://schemas.openxmlformats.org/drawingml/2006/main">
            <a:off x="685800" y="714375"/>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850" b="1">
                <a:solidFill>
                  <a:srgbClr val="0B1728"/>
                </a:solidFill>
                <a:latin typeface="Arial"/>
                <a:ea typeface="Arial"/>
                <a:cs typeface="Arial"/>
              </a:defRPr>
            </a:defPPr>
          </a:lstStyle>
          <a:p xmlns:a="http://schemas.openxmlformats.org/drawingml/2006/main">
            <a:pPr algn="l">
              <a:lnSpc>
                <a:spcPct val="96000"/>
              </a:lnSpc>
              <a:buNone/>
              <a:defRPr sz="2850" b="1">
                <a:solidFill>
                  <a:srgbClr val="0B1728"/>
                </a:solidFill>
                <a:latin typeface="Arial"/>
                <a:ea typeface="Arial"/>
                <a:cs typeface="Arial"/>
              </a:defRPr>
            </a:pPr>
            <a:r>
              <a:rPr sz="2850" b="1">
                <a:solidFill>
                  <a:srgbClr val="0B1728"/>
                </a:solidFill>
                <a:latin typeface="Arial"/>
                <a:ea typeface="Arial"/>
                <a:cs typeface="Arial"/>
              </a:rPr>
              <a:t>Validasi awal belum mencatat feedback pengguna</a:t>
            </a:r>
          </a:p>
        </p:txBody>
      </p:sp>
      <p:sp>
        <p:nvSpPr>
          <p:cNvPr id="4" name="key-takeaway">
            <a:extLst xmlns:a="http://schemas.openxmlformats.org/drawingml/2006/main">
              <a:ext uri="{FF2B5EF4-FFF2-40B4-BE49-F238E27FC236}">
                <a16:creationId xmlns:a16="http://schemas.microsoft.com/office/drawing/2014/main" id="{5B940C49-85D6-466C-A35F-5D7C9931D462}"/>
              </a:ext>
            </a:extLst>
          </p:cNvPr>
          <p:cNvSpPr>
            <a:spLocks xmlns:a="http://schemas.openxmlformats.org/drawingml/2006/main" noGrp="1"/>
          </p:cNvSpPr>
          <p:nvPr/>
        </p:nvSpPr>
        <p:spPr>
          <a:xfrm xmlns:a="http://schemas.openxmlformats.org/drawingml/2006/main">
            <a:off x="685800" y="1371600"/>
            <a:ext cx="10820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2B4D"/>
                </a:solidFill>
                <a:latin typeface="Arial"/>
                <a:ea typeface="Arial"/>
                <a:cs typeface="Arial"/>
              </a:defRPr>
            </a:defPPr>
          </a:lstStyle>
          <a:p xmlns:a="http://schemas.openxmlformats.org/drawingml/2006/main">
            <a:pPr algn="l">
              <a:lnSpc>
                <a:spcPct val="100000"/>
              </a:lnSpc>
              <a:buNone/>
              <a:defRPr sz="1575" b="1">
                <a:solidFill>
                  <a:srgbClr val="172B4D"/>
                </a:solidFill>
                <a:latin typeface="Arial"/>
                <a:ea typeface="Arial"/>
                <a:cs typeface="Arial"/>
              </a:defRPr>
            </a:pPr>
            <a:r>
              <a:rPr sz="1575" b="1">
                <a:solidFill>
                  <a:srgbClr val="172B4D"/>
                </a:solidFill>
                <a:latin typeface="Arial"/>
                <a:ea typeface="Arial"/>
                <a:cs typeface="Arial"/>
              </a:rPr>
              <a:t>Repo memuat tiga kasus sintetis dan satu audit lokal, tanpa catatan uji pengguna riil.</a:t>
            </a:r>
          </a:p>
        </p:txBody>
      </p:sp>
      <p:sp>
        <p:nvSpPr>
          <p:cNvPr id="5" name="page-number">
            <a:extLst xmlns:a="http://schemas.openxmlformats.org/drawingml/2006/main">
              <a:ext uri="{FF2B5EF4-FFF2-40B4-BE49-F238E27FC236}">
                <a16:creationId xmlns:a16="http://schemas.microsoft.com/office/drawing/2014/main" id="{C44EB8D1-D6CA-4605-9A60-27F1B88E1B9C}"/>
              </a:ext>
            </a:extLst>
          </p:cNvPr>
          <p:cNvSpPr>
            <a:spLocks xmlns:a="http://schemas.openxmlformats.org/drawingml/2006/main" noGrp="1"/>
          </p:cNvSpPr>
          <p:nvPr/>
        </p:nvSpPr>
        <p:spPr>
          <a:xfrm xmlns:a="http://schemas.openxmlformats.org/drawingml/2006/main">
            <a:off x="10668000" y="64770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0">
                <a:solidFill>
                  <a:srgbClr val="526178"/>
                </a:solidFill>
                <a:latin typeface="Arial"/>
                <a:ea typeface="Arial"/>
                <a:cs typeface="Arial"/>
              </a:defRPr>
            </a:defPPr>
          </a:lstStyle>
          <a:p xmlns:a="http://schemas.openxmlformats.org/drawingml/2006/main">
            <a:pPr algn="r">
              <a:defRPr sz="975" b="0">
                <a:solidFill>
                  <a:srgbClr val="526178"/>
                </a:solidFill>
                <a:latin typeface="Arial"/>
                <a:ea typeface="Arial"/>
                <a:cs typeface="Arial"/>
              </a:defRPr>
            </a:pPr>
            <a:r>
              <a:rPr sz="975" b="0">
                <a:solidFill>
                  <a:srgbClr val="526178"/>
                </a:solidFill>
                <a:latin typeface="Arial"/>
                <a:ea typeface="Arial"/>
                <a:cs typeface="Arial"/>
              </a:rPr>
              <a:t>07 / 10</a:t>
            </a:r>
          </a:p>
        </p:txBody>
      </p:sp>
      <p:sp>
        <p:nvSpPr>
          <p:cNvPr id="6" name="validation-number-0">
            <a:extLst xmlns:a="http://schemas.openxmlformats.org/drawingml/2006/main">
              <a:ext uri="{FF2B5EF4-FFF2-40B4-BE49-F238E27FC236}">
                <a16:creationId xmlns:a16="http://schemas.microsoft.com/office/drawing/2014/main" id="{47FAC84D-C17A-4D8D-AC8E-357401A8A0E9}"/>
              </a:ext>
            </a:extLst>
          </p:cNvPr>
          <p:cNvSpPr>
            <a:spLocks xmlns:a="http://schemas.openxmlformats.org/drawingml/2006/main" noGrp="1"/>
          </p:cNvSpPr>
          <p:nvPr/>
        </p:nvSpPr>
        <p:spPr>
          <a:xfrm xmlns:a="http://schemas.openxmlformats.org/drawingml/2006/main">
            <a:off x="685800" y="2124075"/>
            <a:ext cx="3000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76"/>
          </a:bodyPr>
          <a:lstStyle xmlns:a="http://schemas.openxmlformats.org/drawingml/2006/main">
            <a:defPPr algn="l">
              <a:defRPr sz="5250" b="1">
                <a:solidFill>
                  <a:srgbClr val="0F62FE"/>
                </a:solidFill>
                <a:latin typeface="Arial"/>
                <a:ea typeface="Arial"/>
                <a:cs typeface="Arial"/>
              </a:defRPr>
            </a:defPPr>
          </a:lstStyle>
          <a:p xmlns:a="http://schemas.openxmlformats.org/drawingml/2006/main">
            <a:pPr algn="l">
              <a:defRPr sz="5250" b="1">
                <a:solidFill>
                  <a:srgbClr val="0F62FE"/>
                </a:solidFill>
                <a:latin typeface="Arial"/>
                <a:ea typeface="Arial"/>
                <a:cs typeface="Arial"/>
              </a:defRPr>
            </a:pPr>
            <a:r>
              <a:rPr sz="5250" b="1">
                <a:solidFill>
                  <a:srgbClr val="0F62FE"/>
                </a:solidFill>
                <a:latin typeface="Arial"/>
                <a:ea typeface="Arial"/>
                <a:cs typeface="Arial"/>
              </a:rPr>
              <a:t>3</a:t>
            </a:r>
          </a:p>
        </p:txBody>
      </p:sp>
      <p:sp>
        <p:nvSpPr>
          <p:cNvPr id="7" name="validation-heading-0">
            <a:extLst xmlns:a="http://schemas.openxmlformats.org/drawingml/2006/main">
              <a:ext uri="{FF2B5EF4-FFF2-40B4-BE49-F238E27FC236}">
                <a16:creationId xmlns:a16="http://schemas.microsoft.com/office/drawing/2014/main" id="{27893F39-2CEE-4711-A142-58632A86FD62}"/>
              </a:ext>
            </a:extLst>
          </p:cNvPr>
          <p:cNvSpPr>
            <a:spLocks xmlns:a="http://schemas.openxmlformats.org/drawingml/2006/main" noGrp="1"/>
          </p:cNvSpPr>
          <p:nvPr/>
        </p:nvSpPr>
        <p:spPr>
          <a:xfrm xmlns:a="http://schemas.openxmlformats.org/drawingml/2006/main">
            <a:off x="685800" y="2895600"/>
            <a:ext cx="300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Kasus sintetis</a:t>
            </a:r>
          </a:p>
        </p:txBody>
      </p:sp>
      <p:sp>
        <p:nvSpPr>
          <p:cNvPr id="8" name="validation-copy-0">
            <a:extLst xmlns:a="http://schemas.openxmlformats.org/drawingml/2006/main">
              <a:ext uri="{FF2B5EF4-FFF2-40B4-BE49-F238E27FC236}">
                <a16:creationId xmlns:a16="http://schemas.microsoft.com/office/drawing/2014/main" id="{C350816B-33EB-4AB1-B3F0-6CD61E8DE33E}"/>
              </a:ext>
            </a:extLst>
          </p:cNvPr>
          <p:cNvSpPr>
            <a:spLocks xmlns:a="http://schemas.openxmlformats.org/drawingml/2006/main" noGrp="1"/>
          </p:cNvSpPr>
          <p:nvPr/>
        </p:nvSpPr>
        <p:spPr>
          <a:xfrm xmlns:a="http://schemas.openxmlformats.org/drawingml/2006/main">
            <a:off x="685800" y="3324225"/>
            <a:ext cx="3000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Fixture berisi skenario bersih, risiko tinggi, dan klarifikasi.</a:t>
            </a:r>
          </a:p>
        </p:txBody>
      </p:sp>
      <p:sp>
        <p:nvSpPr>
          <p:cNvPr id="9" name="validation-number-1">
            <a:extLst xmlns:a="http://schemas.openxmlformats.org/drawingml/2006/main">
              <a:ext uri="{FF2B5EF4-FFF2-40B4-BE49-F238E27FC236}">
                <a16:creationId xmlns:a16="http://schemas.microsoft.com/office/drawing/2014/main" id="{F3A9904E-3FD5-4DF6-B9A7-39FDA31DC7A9}"/>
              </a:ext>
            </a:extLst>
          </p:cNvPr>
          <p:cNvSpPr>
            <a:spLocks xmlns:a="http://schemas.openxmlformats.org/drawingml/2006/main" noGrp="1"/>
          </p:cNvSpPr>
          <p:nvPr/>
        </p:nvSpPr>
        <p:spPr>
          <a:xfrm xmlns:a="http://schemas.openxmlformats.org/drawingml/2006/main">
            <a:off x="4400550" y="2124075"/>
            <a:ext cx="3000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76"/>
          </a:bodyPr>
          <a:lstStyle xmlns:a="http://schemas.openxmlformats.org/drawingml/2006/main">
            <a:defPPr algn="l">
              <a:defRPr sz="5250" b="1">
                <a:solidFill>
                  <a:srgbClr val="0F62FE"/>
                </a:solidFill>
                <a:latin typeface="Arial"/>
                <a:ea typeface="Arial"/>
                <a:cs typeface="Arial"/>
              </a:defRPr>
            </a:defPPr>
          </a:lstStyle>
          <a:p xmlns:a="http://schemas.openxmlformats.org/drawingml/2006/main">
            <a:pPr algn="l">
              <a:defRPr sz="5250" b="1">
                <a:solidFill>
                  <a:srgbClr val="0F62FE"/>
                </a:solidFill>
                <a:latin typeface="Arial"/>
                <a:ea typeface="Arial"/>
                <a:cs typeface="Arial"/>
              </a:defRPr>
            </a:pPr>
            <a:r>
              <a:rPr sz="5250" b="1">
                <a:solidFill>
                  <a:srgbClr val="0F62FE"/>
                </a:solidFill>
                <a:latin typeface="Arial"/>
                <a:ea typeface="Arial"/>
                <a:cs typeface="Arial"/>
              </a:rPr>
              <a:t>1</a:t>
            </a:r>
          </a:p>
        </p:txBody>
      </p:sp>
      <p:sp>
        <p:nvSpPr>
          <p:cNvPr id="10" name="validation-heading-1">
            <a:extLst xmlns:a="http://schemas.openxmlformats.org/drawingml/2006/main">
              <a:ext uri="{FF2B5EF4-FFF2-40B4-BE49-F238E27FC236}">
                <a16:creationId xmlns:a16="http://schemas.microsoft.com/office/drawing/2014/main" id="{DBDACD8D-FD85-4155-8D24-6B3D21960988}"/>
              </a:ext>
            </a:extLst>
          </p:cNvPr>
          <p:cNvSpPr>
            <a:spLocks xmlns:a="http://schemas.openxmlformats.org/drawingml/2006/main" noGrp="1"/>
          </p:cNvSpPr>
          <p:nvPr/>
        </p:nvSpPr>
        <p:spPr>
          <a:xfrm xmlns:a="http://schemas.openxmlformats.org/drawingml/2006/main">
            <a:off x="4400550" y="2895600"/>
            <a:ext cx="300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Event audit lokal</a:t>
            </a:r>
          </a:p>
        </p:txBody>
      </p:sp>
      <p:sp>
        <p:nvSpPr>
          <p:cNvPr id="11" name="validation-copy-1">
            <a:extLst xmlns:a="http://schemas.openxmlformats.org/drawingml/2006/main">
              <a:ext uri="{FF2B5EF4-FFF2-40B4-BE49-F238E27FC236}">
                <a16:creationId xmlns:a16="http://schemas.microsoft.com/office/drawing/2014/main" id="{C9B65749-00C9-4EBF-A98B-C2B4960F80AB}"/>
              </a:ext>
            </a:extLst>
          </p:cNvPr>
          <p:cNvSpPr>
            <a:spLocks xmlns:a="http://schemas.openxmlformats.org/drawingml/2006/main" noGrp="1"/>
          </p:cNvSpPr>
          <p:nvPr/>
        </p:nvSpPr>
        <p:spPr>
          <a:xfrm xmlns:a="http://schemas.openxmlformats.org/drawingml/2006/main">
            <a:off x="4400550" y="3324225"/>
            <a:ext cx="3000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LOCAL_ENGINE mencatat hasil GO-WITH-CAUTION pada 2 Okt 2026.</a:t>
            </a:r>
          </a:p>
        </p:txBody>
      </p:sp>
      <p:sp>
        <p:nvSpPr>
          <p:cNvPr id="12" name="validation-number-2">
            <a:extLst xmlns:a="http://schemas.openxmlformats.org/drawingml/2006/main">
              <a:ext uri="{FF2B5EF4-FFF2-40B4-BE49-F238E27FC236}">
                <a16:creationId xmlns:a16="http://schemas.microsoft.com/office/drawing/2014/main" id="{8AECE724-3F9A-4F87-ADC5-594DFFFB0263}"/>
              </a:ext>
            </a:extLst>
          </p:cNvPr>
          <p:cNvSpPr>
            <a:spLocks xmlns:a="http://schemas.openxmlformats.org/drawingml/2006/main" noGrp="1"/>
          </p:cNvSpPr>
          <p:nvPr/>
        </p:nvSpPr>
        <p:spPr>
          <a:xfrm xmlns:a="http://schemas.openxmlformats.org/drawingml/2006/main">
            <a:off x="8115300" y="2124075"/>
            <a:ext cx="3390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76"/>
          </a:bodyPr>
          <a:lstStyle xmlns:a="http://schemas.openxmlformats.org/drawingml/2006/main">
            <a:defPPr algn="l">
              <a:defRPr sz="5250" b="1">
                <a:solidFill>
                  <a:srgbClr val="DA1E28"/>
                </a:solidFill>
                <a:latin typeface="Arial"/>
                <a:ea typeface="Arial"/>
                <a:cs typeface="Arial"/>
              </a:defRPr>
            </a:defPPr>
          </a:lstStyle>
          <a:p xmlns:a="http://schemas.openxmlformats.org/drawingml/2006/main">
            <a:pPr algn="l">
              <a:defRPr sz="5250" b="1">
                <a:solidFill>
                  <a:srgbClr val="DA1E28"/>
                </a:solidFill>
                <a:latin typeface="Arial"/>
                <a:ea typeface="Arial"/>
                <a:cs typeface="Arial"/>
              </a:defRPr>
            </a:pPr>
            <a:r>
              <a:rPr sz="5250" b="1">
                <a:solidFill>
                  <a:srgbClr val="DA1E28"/>
                </a:solidFill>
                <a:latin typeface="Arial"/>
                <a:ea typeface="Arial"/>
                <a:cs typeface="Arial"/>
              </a:rPr>
              <a:t>0</a:t>
            </a:r>
          </a:p>
        </p:txBody>
      </p:sp>
      <p:sp>
        <p:nvSpPr>
          <p:cNvPr id="13" name="validation-heading-2">
            <a:extLst xmlns:a="http://schemas.openxmlformats.org/drawingml/2006/main">
              <a:ext uri="{FF2B5EF4-FFF2-40B4-BE49-F238E27FC236}">
                <a16:creationId xmlns:a16="http://schemas.microsoft.com/office/drawing/2014/main" id="{F4F35EF6-F1E1-46AC-BB50-CEA4BCBC8849}"/>
              </a:ext>
            </a:extLst>
          </p:cNvPr>
          <p:cNvSpPr>
            <a:spLocks xmlns:a="http://schemas.openxmlformats.org/drawingml/2006/main" noGrp="1"/>
          </p:cNvSpPr>
          <p:nvPr/>
        </p:nvSpPr>
        <p:spPr>
          <a:xfrm xmlns:a="http://schemas.openxmlformats.org/drawingml/2006/main">
            <a:off x="8115300" y="289560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B1728"/>
                </a:solidFill>
                <a:latin typeface="Arial"/>
                <a:ea typeface="Arial"/>
                <a:cs typeface="Arial"/>
              </a:defRPr>
            </a:defPPr>
          </a:lstStyle>
          <a:p xmlns:a="http://schemas.openxmlformats.org/drawingml/2006/main">
            <a:pPr algn="l">
              <a:defRPr sz="1650" b="1">
                <a:solidFill>
                  <a:srgbClr val="0B1728"/>
                </a:solidFill>
                <a:latin typeface="Arial"/>
                <a:ea typeface="Arial"/>
                <a:cs typeface="Arial"/>
              </a:defRPr>
            </a:pPr>
            <a:r>
              <a:rPr sz="1650" b="1">
                <a:solidFill>
                  <a:srgbClr val="0B1728"/>
                </a:solidFill>
                <a:latin typeface="Arial"/>
                <a:ea typeface="Arial"/>
                <a:cs typeface="Arial"/>
              </a:rPr>
              <a:t>Feedback terdokumentasi</a:t>
            </a:r>
          </a:p>
        </p:txBody>
      </p:sp>
      <p:sp>
        <p:nvSpPr>
          <p:cNvPr id="14" name="validation-copy-2">
            <a:extLst xmlns:a="http://schemas.openxmlformats.org/drawingml/2006/main">
              <a:ext uri="{FF2B5EF4-FFF2-40B4-BE49-F238E27FC236}">
                <a16:creationId xmlns:a16="http://schemas.microsoft.com/office/drawing/2014/main" id="{7F33650D-B3BB-410D-B367-1AF95D9FF35B}"/>
              </a:ext>
            </a:extLst>
          </p:cNvPr>
          <p:cNvSpPr>
            <a:spLocks xmlns:a="http://schemas.openxmlformats.org/drawingml/2006/main" noGrp="1"/>
          </p:cNvSpPr>
          <p:nvPr/>
        </p:nvSpPr>
        <p:spPr>
          <a:xfrm xmlns:a="http://schemas.openxmlformats.org/drawingml/2006/main">
            <a:off x="8115300" y="3324225"/>
            <a:ext cx="3390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Tidak ada peserta, kutipan, atau skor respons pengguna di repo.</a:t>
            </a:r>
          </a:p>
        </p:txBody>
      </p:sp>
      <p:sp>
        <p:nvSpPr>
          <p:cNvPr id="15" name="validation-metrics">
            <a:extLst xmlns:a="http://schemas.openxmlformats.org/drawingml/2006/main">
              <a:ext uri="{FF2B5EF4-FFF2-40B4-BE49-F238E27FC236}">
                <a16:creationId xmlns:a16="http://schemas.microsoft.com/office/drawing/2014/main" id="{422EA8AD-01EE-44A6-86BF-1387D453AD47}"/>
              </a:ext>
            </a:extLst>
          </p:cNvPr>
          <p:cNvSpPr>
            <a:spLocks xmlns:a="http://schemas.openxmlformats.org/drawingml/2006/main" noGrp="1"/>
          </p:cNvSpPr>
          <p:nvPr/>
        </p:nvSpPr>
        <p:spPr>
          <a:xfrm xmlns:a="http://schemas.openxmlformats.org/drawingml/2006/main">
            <a:off x="685800" y="4333875"/>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172B4D"/>
                </a:solidFill>
                <a:latin typeface="Arial"/>
                <a:ea typeface="Arial"/>
                <a:cs typeface="Arial"/>
              </a:defRPr>
            </a:defPPr>
          </a:lstStyle>
          <a:p xmlns:a="http://schemas.openxmlformats.org/drawingml/2006/main">
            <a:pPr algn="l">
              <a:lnSpc>
                <a:spcPct val="105000"/>
              </a:lnSpc>
              <a:buNone/>
              <a:defRPr sz="1500" b="1">
                <a:solidFill>
                  <a:srgbClr val="172B4D"/>
                </a:solidFill>
                <a:latin typeface="Arial"/>
                <a:ea typeface="Arial"/>
                <a:cs typeface="Arial"/>
              </a:defRPr>
            </a:pPr>
            <a:r>
              <a:rPr sz="1500" b="1">
                <a:solidFill>
                  <a:srgbClr val="172B4D"/>
                </a:solidFill>
                <a:latin typeface="Arial"/>
                <a:ea typeface="Arial"/>
                <a:cs typeface="Arial"/>
              </a:rPr>
              <a:t>Metrik feedback pengguna: N/A. Untuk uji berikutnya, catat keberhasilan tugas, waktu review, temuan salah/terlewat, dan kejelasan bukti.</a:t>
            </a:r>
          </a:p>
        </p:txBody>
      </p:sp>
      <p:sp>
        <p:nvSpPr>
          <p:cNvPr id="16" name="validation-komdigi">
            <a:extLst xmlns:a="http://schemas.openxmlformats.org/drawingml/2006/main">
              <a:ext uri="{FF2B5EF4-FFF2-40B4-BE49-F238E27FC236}">
                <a16:creationId xmlns:a16="http://schemas.microsoft.com/office/drawing/2014/main" id="{234DC3F1-A8F5-4230-9697-540E8DCD08A6}"/>
              </a:ext>
            </a:extLst>
          </p:cNvPr>
          <p:cNvSpPr>
            <a:spLocks xmlns:a="http://schemas.openxmlformats.org/drawingml/2006/main" noGrp="1"/>
          </p:cNvSpPr>
          <p:nvPr/>
        </p:nvSpPr>
        <p:spPr>
          <a:xfrm xmlns:a="http://schemas.openxmlformats.org/drawingml/2006/main">
            <a:off x="685800" y="509587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lnSpc>
                <a:spcPct val="105000"/>
              </a:lnSpc>
              <a:buNone/>
              <a:defRPr sz="1350" b="0">
                <a:solidFill>
                  <a:srgbClr val="526178"/>
                </a:solidFill>
                <a:latin typeface="Arial"/>
                <a:ea typeface="Arial"/>
                <a:cs typeface="Arial"/>
              </a:defRPr>
            </a:pPr>
            <a:r>
              <a:rPr sz="1350" b="0">
                <a:solidFill>
                  <a:srgbClr val="526178"/>
                </a:solidFill>
                <a:latin typeface="Arial"/>
                <a:ea typeface="Arial"/>
                <a:cs typeface="Arial"/>
              </a:rPr>
              <a:t>Pertanyaan mentoring Komdigi: Apakah reviewer menemukan gap lebih cepat? Apakah bukti cukup jelas untuk ditindaklanjuti? Bagaimana membedakan anomali dari fraud?</a:t>
            </a:r>
          </a:p>
        </p:txBody>
      </p:sp>
      <p:sp>
        <p:nvSpPr>
          <p:cNvPr id="17" name="audit-log-shot-frame">
            <a:extLst xmlns:a="http://schemas.openxmlformats.org/drawingml/2006/main">
              <a:ext uri="{FF2B5EF4-FFF2-40B4-BE49-F238E27FC236}">
                <a16:creationId xmlns:a16="http://schemas.microsoft.com/office/drawing/2014/main" id="{422CC86E-16C1-4ED8-9A49-3DCEF883D34C}"/>
              </a:ext>
            </a:extLst>
          </p:cNvPr>
          <p:cNvSpPr>
            <a:spLocks xmlns:a="http://schemas.openxmlformats.org/drawingml/2006/main" noGrp="1"/>
          </p:cNvSpPr>
          <p:nvPr/>
        </p:nvSpPr>
        <p:spPr>
          <a:xfrm xmlns:a="http://schemas.openxmlformats.org/drawingml/2006/main">
            <a:off x="647700" y="5772150"/>
            <a:ext cx="78867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prstDash val="solid"/>
          </a:ln>
        </p:spPr>
      </p:sp>
      <p:pic>
        <p:nvPicPr>
          <p:cNvPr id="18" name="">
            <a:extLst xmlns:a="http://schemas.openxmlformats.org/drawingml/2006/main">
              <a:ext uri="{FF2B5EF4-FFF2-40B4-BE49-F238E27FC236}">
                <a16:creationId xmlns:a16="http://schemas.microsoft.com/office/drawing/2014/main" id="{4F0F5A08-52C9-4374-8404-6634AC107716}"/>
              </a:ext>
            </a:extLst>
          </p:cNvPr>
          <p:cNvPicPr>
            <a:picLocks xmlns:a="http://schemas.openxmlformats.org/drawingml/2006/main" noChangeAspect="1"/>
          </p:cNvPicPr>
          <p:nvPr/>
        </p:nvPicPr>
        <p:blipFill>
          <a:blip xmlns:r="http://schemas.openxmlformats.org/officeDocument/2006/relationships" xmlns:a="http://schemas.openxmlformats.org/drawingml/2006/main" r:embed="Rd668e6909d5a427f"/>
          <a:stretch xmlns:a="http://schemas.openxmlformats.org/drawingml/2006/main"/>
        </p:blipFill>
        <p:spPr>
          <a:xfrm xmlns:a="http://schemas.openxmlformats.org/drawingml/2006/main">
            <a:off x="733425" y="5810250"/>
            <a:ext cx="7715250" cy="342900"/>
          </a:xfrm>
          <a:prstGeom xmlns:a="http://schemas.openxmlformats.org/drawingml/2006/main" prst="rect">
            <a:avLst/>
          </a:prstGeom>
        </p:spPr>
      </p:pic>
    </p:spTree>
    <p:extLst>
      <p:ext uri="{BB962C8B-B14F-4D97-AF65-F5344CB8AC3E}">
        <p14:creationId xmlns:p14="http://schemas.microsoft.com/office/powerpoint/2010/main" val="1229012900"/>
      </p:ext>
    </p:extLst>
  </p:cSld>
</p:sld>
</file>

<file path=ppt/slides/slide8.xml><?xml version="1.0" encoding="utf-8"?>
<p:sld xmlns:p="http://schemas.openxmlformats.org/presentationml/2006/main">
  <p:cSld>
    <p:bg>
      <p:bgPr>
        <a:solidFill xmlns:a="http://schemas.openxmlformats.org/drawingml/2006/main">
          <a:srgbClr val="10233B"/>
        </a:solidFill>
      </p:bgPr>
    </p:bg>
    <p:spTree>
      <p:nvGrpSpPr>
        <p:cNvPr id="1" name=""/>
        <p:cNvGrpSpPr/>
        <p:nvPr/>
      </p:nvGrpSpPr>
      <p:grpSpPr>
        <a:xfrm xmlns:a="http://schemas.openxmlformats.org/drawingml/2006/main"/>
      </p:grpSpPr>
      <p:sp>
        <p:nvSpPr>
          <p:cNvPr id="29" name="brand-mark">
            <a:extLst xmlns:a="http://schemas.openxmlformats.org/drawingml/2006/main">
              <a:ext uri="{FF2B5EF4-FFF2-40B4-BE49-F238E27FC236}">
                <a16:creationId xmlns:a16="http://schemas.microsoft.com/office/drawing/2014/main" id="{43F814D2-4BDC-44D4-BAB4-3F907E32E132}"/>
              </a:ext>
            </a:extLst>
          </p:cNvPr>
          <p:cNvSpPr>
            <a:spLocks xmlns:a="http://schemas.openxmlformats.org/drawingml/2006/main" noGrp="1"/>
          </p:cNvSpPr>
          <p:nvPr/>
        </p:nvSpPr>
        <p:spPr>
          <a:xfrm xmlns:a="http://schemas.openxmlformats.org/drawingml/2006/main">
            <a:off x="685800" y="371475"/>
            <a:ext cx="47625" cy="171450"/>
          </a:xfrm>
          <a:prstGeom xmlns:a="http://schemas.openxmlformats.org/drawingml/2006/main" prst="rect">
            <a:avLst/>
          </a:prstGeom>
          <a:solidFill xmlns:a="http://schemas.openxmlformats.org/drawingml/2006/main">
            <a:srgbClr val="4589FF"/>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1A07A1C5-95CE-46E3-B7E2-1F72381C1120}"/>
              </a:ext>
            </a:extLst>
          </p:cNvPr>
          <p:cNvSpPr>
            <a:spLocks xmlns:a="http://schemas.openxmlformats.org/drawingml/2006/main" noGrp="1"/>
          </p:cNvSpPr>
          <p:nvPr/>
        </p:nvSpPr>
        <p:spPr>
          <a:xfrm xmlns:a="http://schemas.openxmlformats.org/drawingml/2006/main">
            <a:off x="838200" y="361950"/>
            <a:ext cx="571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9EC5FF"/>
                </a:solidFill>
                <a:latin typeface="Arial"/>
                <a:ea typeface="Arial"/>
                <a:cs typeface="Arial"/>
              </a:defRPr>
            </a:defPPr>
          </a:lstStyle>
          <a:p xmlns:a="http://schemas.openxmlformats.org/drawingml/2006/main">
            <a:pPr algn="l">
              <a:defRPr sz="1050" b="1">
                <a:solidFill>
                  <a:srgbClr val="9EC5FF"/>
                </a:solidFill>
                <a:latin typeface="Arial"/>
                <a:ea typeface="Arial"/>
                <a:cs typeface="Arial"/>
              </a:defRPr>
            </a:pPr>
            <a:r>
              <a:rPr sz="1050" b="1">
                <a:solidFill>
                  <a:srgbClr val="9EC5FF"/>
                </a:solidFill>
                <a:latin typeface="Arial"/>
                <a:ea typeface="Arial"/>
                <a:cs typeface="Arial"/>
              </a:rPr>
              <a:t>BIDSENTRY AI  /  DEMO</a:t>
            </a:r>
          </a:p>
        </p:txBody>
      </p:sp>
      <p:sp>
        <p:nvSpPr>
          <p:cNvPr id="3" name="slide-title">
            <a:extLst xmlns:a="http://schemas.openxmlformats.org/drawingml/2006/main">
              <a:ext uri="{FF2B5EF4-FFF2-40B4-BE49-F238E27FC236}">
                <a16:creationId xmlns:a16="http://schemas.microsoft.com/office/drawing/2014/main" id="{291DFF72-DDF7-4F1F-B2C5-B15EC1FCCE19}"/>
              </a:ext>
            </a:extLst>
          </p:cNvPr>
          <p:cNvSpPr>
            <a:spLocks xmlns:a="http://schemas.openxmlformats.org/drawingml/2006/main" noGrp="1"/>
          </p:cNvSpPr>
          <p:nvPr/>
        </p:nvSpPr>
        <p:spPr>
          <a:xfrm xmlns:a="http://schemas.openxmlformats.org/drawingml/2006/main">
            <a:off x="685800" y="714375"/>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Tautan demo video</a:t>
            </a:r>
          </a:p>
        </p:txBody>
      </p:sp>
      <p:sp>
        <p:nvSpPr>
          <p:cNvPr id="4" name="key-takeaway">
            <a:extLst xmlns:a="http://schemas.openxmlformats.org/drawingml/2006/main">
              <a:ext uri="{FF2B5EF4-FFF2-40B4-BE49-F238E27FC236}">
                <a16:creationId xmlns:a16="http://schemas.microsoft.com/office/drawing/2014/main" id="{91FAE416-6CA0-49CE-A615-05FD07EBD78B}"/>
              </a:ext>
            </a:extLst>
          </p:cNvPr>
          <p:cNvSpPr>
            <a:spLocks xmlns:a="http://schemas.openxmlformats.org/drawingml/2006/main" noGrp="1"/>
          </p:cNvSpPr>
          <p:nvPr/>
        </p:nvSpPr>
        <p:spPr>
          <a:xfrm xmlns:a="http://schemas.openxmlformats.org/drawingml/2006/main">
            <a:off x="685800" y="1352550"/>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EAF2FF"/>
                </a:solidFill>
                <a:latin typeface="Arial"/>
                <a:ea typeface="Arial"/>
                <a:cs typeface="Arial"/>
              </a:defRPr>
            </a:defPPr>
          </a:lstStyle>
          <a:p xmlns:a="http://schemas.openxmlformats.org/drawingml/2006/main">
            <a:pPr algn="l">
              <a:defRPr sz="1650" b="1">
                <a:solidFill>
                  <a:srgbClr val="EAF2FF"/>
                </a:solidFill>
                <a:latin typeface="Arial"/>
                <a:ea typeface="Arial"/>
                <a:cs typeface="Arial"/>
              </a:defRPr>
            </a:pPr>
            <a:r>
              <a:rPr sz="1650" b="1">
                <a:solidFill>
                  <a:srgbClr val="EAF2FF"/>
                </a:solidFill>
                <a:latin typeface="Arial"/>
                <a:ea typeface="Arial"/>
                <a:cs typeface="Arial"/>
              </a:rPr>
              <a:t>Gunakan YouTube Unlisted dan jaga durasi maksimal tujuh menit.</a:t>
            </a:r>
          </a:p>
        </p:txBody>
      </p:sp>
      <p:sp>
        <p:nvSpPr>
          <p:cNvPr id="5" name="video-link-label">
            <a:extLst xmlns:a="http://schemas.openxmlformats.org/drawingml/2006/main">
              <a:ext uri="{FF2B5EF4-FFF2-40B4-BE49-F238E27FC236}">
                <a16:creationId xmlns:a16="http://schemas.microsoft.com/office/drawing/2014/main" id="{19BABAF8-2137-47B0-A416-71CE58C8A8B0}"/>
              </a:ext>
            </a:extLst>
          </p:cNvPr>
          <p:cNvSpPr>
            <a:spLocks xmlns:a="http://schemas.openxmlformats.org/drawingml/2006/main" noGrp="1"/>
          </p:cNvSpPr>
          <p:nvPr/>
        </p:nvSpPr>
        <p:spPr>
          <a:xfrm xmlns:a="http://schemas.openxmlformats.org/drawingml/2006/main">
            <a:off x="685800" y="2371725"/>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1">
                <a:solidFill>
                  <a:srgbClr val="9EC5FF"/>
                </a:solidFill>
                <a:latin typeface="Arial"/>
                <a:ea typeface="Arial"/>
                <a:cs typeface="Arial"/>
              </a:defRPr>
            </a:defPPr>
          </a:lstStyle>
          <a:p xmlns:a="http://schemas.openxmlformats.org/drawingml/2006/main">
            <a:pPr algn="l">
              <a:defRPr sz="1200" b="1">
                <a:solidFill>
                  <a:srgbClr val="9EC5FF"/>
                </a:solidFill>
                <a:latin typeface="Arial"/>
                <a:ea typeface="Arial"/>
                <a:cs typeface="Arial"/>
              </a:defRPr>
            </a:pPr>
            <a:r>
              <a:rPr sz="1200" b="1">
                <a:solidFill>
                  <a:srgbClr val="9EC5FF"/>
                </a:solidFill>
                <a:latin typeface="Arial"/>
                <a:ea typeface="Arial"/>
                <a:cs typeface="Arial"/>
              </a:rPr>
              <a:t>TAUTAN YOUTUBE UNLISTED</a:t>
            </a:r>
          </a:p>
        </p:txBody>
      </p:sp>
      <p:sp>
        <p:nvSpPr>
          <p:cNvPr id="6" name="video-link">
            <a:extLst xmlns:a="http://schemas.openxmlformats.org/drawingml/2006/main">
              <a:ext uri="{FF2B5EF4-FFF2-40B4-BE49-F238E27FC236}">
                <a16:creationId xmlns:a16="http://schemas.microsoft.com/office/drawing/2014/main" id="{0E6672F6-1D16-456D-9F3A-A2F1E34DBB7B}"/>
              </a:ext>
            </a:extLst>
          </p:cNvPr>
          <p:cNvSpPr>
            <a:spLocks xmlns:a="http://schemas.openxmlformats.org/drawingml/2006/main" noGrp="1"/>
          </p:cNvSpPr>
          <p:nvPr/>
        </p:nvSpPr>
        <p:spPr>
          <a:xfrm xmlns:a="http://schemas.openxmlformats.org/drawingml/2006/main">
            <a:off x="685800" y="276225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850" b="1">
                <a:solidFill>
                  <a:srgbClr val="FFFFFF"/>
                </a:solidFill>
                <a:latin typeface="Arial"/>
                <a:ea typeface="Arial"/>
                <a:cs typeface="Arial"/>
              </a:defRPr>
            </a:defPPr>
          </a:lstStyle>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https://youtu.be/[VIDEO_ID]</a:t>
            </a:r>
          </a:p>
        </p:txBody>
      </p:sp>
      <p:sp>
        <p:nvSpPr>
          <p:cNvPr id="7" name="video-duration">
            <a:extLst xmlns:a="http://schemas.openxmlformats.org/drawingml/2006/main">
              <a:ext uri="{FF2B5EF4-FFF2-40B4-BE49-F238E27FC236}">
                <a16:creationId xmlns:a16="http://schemas.microsoft.com/office/drawing/2014/main" id="{04BB013E-94A7-4596-B5BA-DFA6D00EBAEB}"/>
              </a:ext>
            </a:extLst>
          </p:cNvPr>
          <p:cNvSpPr>
            <a:spLocks xmlns:a="http://schemas.openxmlformats.org/drawingml/2006/main" noGrp="1"/>
          </p:cNvSpPr>
          <p:nvPr/>
        </p:nvSpPr>
        <p:spPr>
          <a:xfrm xmlns:a="http://schemas.openxmlformats.org/drawingml/2006/main">
            <a:off x="685800" y="3381375"/>
            <a:ext cx="666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78A9FF"/>
                </a:solidFill>
                <a:latin typeface="Arial"/>
                <a:ea typeface="Arial"/>
                <a:cs typeface="Arial"/>
              </a:defRPr>
            </a:defPPr>
          </a:lstStyle>
          <a:p xmlns:a="http://schemas.openxmlformats.org/drawingml/2006/main">
            <a:pPr algn="l">
              <a:defRPr sz="1650" b="1">
                <a:solidFill>
                  <a:srgbClr val="78A9FF"/>
                </a:solidFill>
                <a:latin typeface="Arial"/>
                <a:ea typeface="Arial"/>
                <a:cs typeface="Arial"/>
              </a:defRPr>
            </a:pPr>
            <a:r>
              <a:rPr sz="1650" b="1">
                <a:solidFill>
                  <a:srgbClr val="78A9FF"/>
                </a:solidFill>
                <a:latin typeface="Arial"/>
                <a:ea typeface="Arial"/>
                <a:cs typeface="Arial"/>
              </a:rPr>
              <a:t>Target 6:30  ·  batas maksimum 7:00</a:t>
            </a:r>
          </a:p>
        </p:txBody>
      </p:sp>
      <p:sp>
        <p:nvSpPr>
          <p:cNvPr id="8" name="video-steps-header">
            <a:extLst xmlns:a="http://schemas.openxmlformats.org/drawingml/2006/main">
              <a:ext uri="{FF2B5EF4-FFF2-40B4-BE49-F238E27FC236}">
                <a16:creationId xmlns:a16="http://schemas.microsoft.com/office/drawing/2014/main" id="{AE996114-88F6-489C-A8A3-31E9A06CA662}"/>
              </a:ext>
            </a:extLst>
          </p:cNvPr>
          <p:cNvSpPr>
            <a:spLocks xmlns:a="http://schemas.openxmlformats.org/drawingml/2006/main" noGrp="1"/>
          </p:cNvSpPr>
          <p:nvPr/>
        </p:nvSpPr>
        <p:spPr>
          <a:xfrm xmlns:a="http://schemas.openxmlformats.org/drawingml/2006/main">
            <a:off x="685800" y="4095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9EC5FF"/>
                </a:solidFill>
                <a:latin typeface="Arial"/>
                <a:ea typeface="Arial"/>
                <a:cs typeface="Arial"/>
              </a:defRPr>
            </a:defPPr>
          </a:lstStyle>
          <a:p xmlns:a="http://schemas.openxmlformats.org/drawingml/2006/main">
            <a:pPr algn="l">
              <a:defRPr sz="1125" b="1">
                <a:solidFill>
                  <a:srgbClr val="9EC5FF"/>
                </a:solidFill>
                <a:latin typeface="Arial"/>
                <a:ea typeface="Arial"/>
                <a:cs typeface="Arial"/>
              </a:defRPr>
            </a:pPr>
            <a:r>
              <a:rPr sz="1125" b="1">
                <a:solidFill>
                  <a:srgbClr val="9EC5FF"/>
                </a:solidFill>
                <a:latin typeface="Arial"/>
                <a:ea typeface="Arial"/>
                <a:cs typeface="Arial"/>
              </a:rPr>
              <a:t>SKENARIO REKAMAN</a:t>
            </a:r>
          </a:p>
        </p:txBody>
      </p:sp>
      <p:sp>
        <p:nvSpPr>
          <p:cNvPr id="9" name="video-timeline">
            <a:extLst xmlns:a="http://schemas.openxmlformats.org/drawingml/2006/main">
              <a:ext uri="{FF2B5EF4-FFF2-40B4-BE49-F238E27FC236}">
                <a16:creationId xmlns:a16="http://schemas.microsoft.com/office/drawing/2014/main" id="{8B9E6A75-C7E5-4F4F-A5B3-9FA477C30BAB}"/>
              </a:ext>
            </a:extLst>
          </p:cNvPr>
          <p:cNvSpPr>
            <a:spLocks xmlns:a="http://schemas.openxmlformats.org/drawingml/2006/main" noGrp="1"/>
          </p:cNvSpPr>
          <p:nvPr/>
        </p:nvSpPr>
        <p:spPr>
          <a:xfrm xmlns:a="http://schemas.openxmlformats.org/drawingml/2006/main">
            <a:off x="876300" y="4648200"/>
            <a:ext cx="10382250" cy="28575"/>
          </a:xfrm>
          <a:prstGeom xmlns:a="http://schemas.openxmlformats.org/drawingml/2006/main" prst="rect">
            <a:avLst/>
          </a:prstGeom>
          <a:solidFill xmlns:a="http://schemas.openxmlformats.org/drawingml/2006/main">
            <a:srgbClr val="5A78A0"/>
          </a:solidFill>
          <a:ln xmlns:a="http://schemas.openxmlformats.org/drawingml/2006/main" w="0">
            <a:noFill/>
            <a:prstDash val="solid"/>
          </a:ln>
        </p:spPr>
      </p:sp>
      <p:sp>
        <p:nvSpPr>
          <p:cNvPr id="10" name="video-point-0">
            <a:extLst xmlns:a="http://schemas.openxmlformats.org/drawingml/2006/main">
              <a:ext uri="{FF2B5EF4-FFF2-40B4-BE49-F238E27FC236}">
                <a16:creationId xmlns:a16="http://schemas.microsoft.com/office/drawing/2014/main" id="{A714FEBA-F877-4127-AE4A-358FD2BB11A7}"/>
              </a:ext>
            </a:extLst>
          </p:cNvPr>
          <p:cNvSpPr>
            <a:spLocks xmlns:a="http://schemas.openxmlformats.org/drawingml/2006/main" noGrp="1"/>
          </p:cNvSpPr>
          <p:nvPr/>
        </p:nvSpPr>
        <p:spPr>
          <a:xfrm xmlns:a="http://schemas.openxmlformats.org/drawingml/2006/main">
            <a:off x="857250" y="4572000"/>
            <a:ext cx="142875" cy="171450"/>
          </a:xfrm>
          <a:prstGeom xmlns:a="http://schemas.openxmlformats.org/drawingml/2006/main" prst="rect">
            <a:avLst/>
          </a:prstGeom>
          <a:solidFill xmlns:a="http://schemas.openxmlformats.org/drawingml/2006/main">
            <a:srgbClr val="33B1FF"/>
          </a:solidFill>
          <a:ln xmlns:a="http://schemas.openxmlformats.org/drawingml/2006/main" w="0">
            <a:noFill/>
            <a:prstDash val="solid"/>
          </a:ln>
        </p:spPr>
      </p:sp>
      <p:sp>
        <p:nvSpPr>
          <p:cNvPr id="11" name="video-time-0">
            <a:extLst xmlns:a="http://schemas.openxmlformats.org/drawingml/2006/main">
              <a:ext uri="{FF2B5EF4-FFF2-40B4-BE49-F238E27FC236}">
                <a16:creationId xmlns:a16="http://schemas.microsoft.com/office/drawing/2014/main" id="{49E06CDD-2C98-4011-996E-9F59059DD360}"/>
              </a:ext>
            </a:extLst>
          </p:cNvPr>
          <p:cNvSpPr>
            <a:spLocks xmlns:a="http://schemas.openxmlformats.org/drawingml/2006/main" noGrp="1"/>
          </p:cNvSpPr>
          <p:nvPr/>
        </p:nvSpPr>
        <p:spPr>
          <a:xfrm xmlns:a="http://schemas.openxmlformats.org/drawingml/2006/main">
            <a:off x="571500" y="4895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0:00</a:t>
            </a:r>
          </a:p>
        </p:txBody>
      </p:sp>
      <p:sp>
        <p:nvSpPr>
          <p:cNvPr id="12" name="video-label-0">
            <a:extLst xmlns:a="http://schemas.openxmlformats.org/drawingml/2006/main">
              <a:ext uri="{FF2B5EF4-FFF2-40B4-BE49-F238E27FC236}">
                <a16:creationId xmlns:a16="http://schemas.microsoft.com/office/drawing/2014/main" id="{8EEF33A9-2104-4097-93A0-892521F3032A}"/>
              </a:ext>
            </a:extLst>
          </p:cNvPr>
          <p:cNvSpPr>
            <a:spLocks xmlns:a="http://schemas.openxmlformats.org/drawingml/2006/main" noGrp="1"/>
          </p:cNvSpPr>
          <p:nvPr/>
        </p:nvSpPr>
        <p:spPr>
          <a:xfrm xmlns:a="http://schemas.openxmlformats.org/drawingml/2006/main">
            <a:off x="571500" y="5191125"/>
            <a:ext cx="1600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D3E2F6"/>
                </a:solidFill>
                <a:latin typeface="Arial"/>
                <a:ea typeface="Arial"/>
                <a:cs typeface="Arial"/>
              </a:defRPr>
            </a:defPPr>
          </a:lstStyle>
          <a:p xmlns:a="http://schemas.openxmlformats.org/drawingml/2006/main">
            <a:pPr algn="l">
              <a:lnSpc>
                <a:spcPct val="100000"/>
              </a:lnSpc>
              <a:buNone/>
              <a:defRPr sz="1275" b="0">
                <a:solidFill>
                  <a:srgbClr val="D3E2F6"/>
                </a:solidFill>
                <a:latin typeface="Arial"/>
                <a:ea typeface="Arial"/>
                <a:cs typeface="Arial"/>
              </a:defRPr>
            </a:pPr>
            <a:r>
              <a:rPr sz="1275" b="0">
                <a:solidFill>
                  <a:srgbClr val="D3E2F6"/>
                </a:solidFill>
                <a:latin typeface="Arial"/>
                <a:ea typeface="Arial"/>
                <a:cs typeface="Arial"/>
              </a:rPr>
              <a:t>Masalah + dashboard</a:t>
            </a:r>
          </a:p>
        </p:txBody>
      </p:sp>
      <p:sp>
        <p:nvSpPr>
          <p:cNvPr id="13" name="video-point-1">
            <a:extLst xmlns:a="http://schemas.openxmlformats.org/drawingml/2006/main">
              <a:ext uri="{FF2B5EF4-FFF2-40B4-BE49-F238E27FC236}">
                <a16:creationId xmlns:a16="http://schemas.microsoft.com/office/drawing/2014/main" id="{E11AA0EF-1086-4044-8A71-63FE38A46071}"/>
              </a:ext>
            </a:extLst>
          </p:cNvPr>
          <p:cNvSpPr>
            <a:spLocks xmlns:a="http://schemas.openxmlformats.org/drawingml/2006/main" noGrp="1"/>
          </p:cNvSpPr>
          <p:nvPr/>
        </p:nvSpPr>
        <p:spPr>
          <a:xfrm xmlns:a="http://schemas.openxmlformats.org/drawingml/2006/main">
            <a:off x="2847975" y="4572000"/>
            <a:ext cx="142875" cy="171450"/>
          </a:xfrm>
          <a:prstGeom xmlns:a="http://schemas.openxmlformats.org/drawingml/2006/main" prst="rect">
            <a:avLst/>
          </a:prstGeom>
          <a:solidFill xmlns:a="http://schemas.openxmlformats.org/drawingml/2006/main">
            <a:srgbClr val="33B1FF"/>
          </a:solidFill>
          <a:ln xmlns:a="http://schemas.openxmlformats.org/drawingml/2006/main" w="0">
            <a:noFill/>
            <a:prstDash val="solid"/>
          </a:ln>
        </p:spPr>
      </p:sp>
      <p:sp>
        <p:nvSpPr>
          <p:cNvPr id="14" name="video-time-1">
            <a:extLst xmlns:a="http://schemas.openxmlformats.org/drawingml/2006/main">
              <a:ext uri="{FF2B5EF4-FFF2-40B4-BE49-F238E27FC236}">
                <a16:creationId xmlns:a16="http://schemas.microsoft.com/office/drawing/2014/main" id="{8E5CCDF2-D3DC-491F-878A-556E5D8E3205}"/>
              </a:ext>
            </a:extLst>
          </p:cNvPr>
          <p:cNvSpPr>
            <a:spLocks xmlns:a="http://schemas.openxmlformats.org/drawingml/2006/main" noGrp="1"/>
          </p:cNvSpPr>
          <p:nvPr/>
        </p:nvSpPr>
        <p:spPr>
          <a:xfrm xmlns:a="http://schemas.openxmlformats.org/drawingml/2006/main">
            <a:off x="2562225" y="4895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1:00</a:t>
            </a:r>
          </a:p>
        </p:txBody>
      </p:sp>
      <p:sp>
        <p:nvSpPr>
          <p:cNvPr id="15" name="video-label-1">
            <a:extLst xmlns:a="http://schemas.openxmlformats.org/drawingml/2006/main">
              <a:ext uri="{FF2B5EF4-FFF2-40B4-BE49-F238E27FC236}">
                <a16:creationId xmlns:a16="http://schemas.microsoft.com/office/drawing/2014/main" id="{7A845899-13CB-4286-8030-A6B1A028780D}"/>
              </a:ext>
            </a:extLst>
          </p:cNvPr>
          <p:cNvSpPr>
            <a:spLocks xmlns:a="http://schemas.openxmlformats.org/drawingml/2006/main" noGrp="1"/>
          </p:cNvSpPr>
          <p:nvPr/>
        </p:nvSpPr>
        <p:spPr>
          <a:xfrm xmlns:a="http://schemas.openxmlformats.org/drawingml/2006/main">
            <a:off x="2562225" y="5191125"/>
            <a:ext cx="1600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D3E2F6"/>
                </a:solidFill>
                <a:latin typeface="Arial"/>
                <a:ea typeface="Arial"/>
                <a:cs typeface="Arial"/>
              </a:defRPr>
            </a:defPPr>
          </a:lstStyle>
          <a:p xmlns:a="http://schemas.openxmlformats.org/drawingml/2006/main">
            <a:pPr algn="l">
              <a:lnSpc>
                <a:spcPct val="100000"/>
              </a:lnSpc>
              <a:buNone/>
              <a:defRPr sz="1275" b="0">
                <a:solidFill>
                  <a:srgbClr val="D3E2F6"/>
                </a:solidFill>
                <a:latin typeface="Arial"/>
                <a:ea typeface="Arial"/>
                <a:cs typeface="Arial"/>
              </a:defRPr>
            </a:pPr>
            <a:r>
              <a:rPr sz="1275" b="0">
                <a:solidFill>
                  <a:srgbClr val="D3E2F6"/>
                </a:solidFill>
                <a:latin typeface="Arial"/>
                <a:ea typeface="Arial"/>
                <a:cs typeface="Arial"/>
              </a:rPr>
              <a:t>Audit kustom</a:t>
            </a:r>
          </a:p>
        </p:txBody>
      </p:sp>
      <p:sp>
        <p:nvSpPr>
          <p:cNvPr id="16" name="video-point-2">
            <a:extLst xmlns:a="http://schemas.openxmlformats.org/drawingml/2006/main">
              <a:ext uri="{FF2B5EF4-FFF2-40B4-BE49-F238E27FC236}">
                <a16:creationId xmlns:a16="http://schemas.microsoft.com/office/drawing/2014/main" id="{8964C98C-48BB-45F1-9779-F84638F42B33}"/>
              </a:ext>
            </a:extLst>
          </p:cNvPr>
          <p:cNvSpPr>
            <a:spLocks xmlns:a="http://schemas.openxmlformats.org/drawingml/2006/main" noGrp="1"/>
          </p:cNvSpPr>
          <p:nvPr/>
        </p:nvSpPr>
        <p:spPr>
          <a:xfrm xmlns:a="http://schemas.openxmlformats.org/drawingml/2006/main">
            <a:off x="4838700" y="4572000"/>
            <a:ext cx="142875" cy="171450"/>
          </a:xfrm>
          <a:prstGeom xmlns:a="http://schemas.openxmlformats.org/drawingml/2006/main" prst="rect">
            <a:avLst/>
          </a:prstGeom>
          <a:solidFill xmlns:a="http://schemas.openxmlformats.org/drawingml/2006/main">
            <a:srgbClr val="33B1FF"/>
          </a:solidFill>
          <a:ln xmlns:a="http://schemas.openxmlformats.org/drawingml/2006/main" w="0">
            <a:noFill/>
            <a:prstDash val="solid"/>
          </a:ln>
        </p:spPr>
      </p:sp>
      <p:sp>
        <p:nvSpPr>
          <p:cNvPr id="17" name="video-time-2">
            <a:extLst xmlns:a="http://schemas.openxmlformats.org/drawingml/2006/main">
              <a:ext uri="{FF2B5EF4-FFF2-40B4-BE49-F238E27FC236}">
                <a16:creationId xmlns:a16="http://schemas.microsoft.com/office/drawing/2014/main" id="{05393BA2-EC8C-4D08-8B52-20DE9F2DDAA9}"/>
              </a:ext>
            </a:extLst>
          </p:cNvPr>
          <p:cNvSpPr>
            <a:spLocks xmlns:a="http://schemas.openxmlformats.org/drawingml/2006/main" noGrp="1"/>
          </p:cNvSpPr>
          <p:nvPr/>
        </p:nvSpPr>
        <p:spPr>
          <a:xfrm xmlns:a="http://schemas.openxmlformats.org/drawingml/2006/main">
            <a:off x="4552950" y="4895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2:30</a:t>
            </a:r>
          </a:p>
        </p:txBody>
      </p:sp>
      <p:sp>
        <p:nvSpPr>
          <p:cNvPr id="18" name="video-label-2">
            <a:extLst xmlns:a="http://schemas.openxmlformats.org/drawingml/2006/main">
              <a:ext uri="{FF2B5EF4-FFF2-40B4-BE49-F238E27FC236}">
                <a16:creationId xmlns:a16="http://schemas.microsoft.com/office/drawing/2014/main" id="{71F555D8-DC82-4F5F-A7D5-8DEA6F2F0BA7}"/>
              </a:ext>
            </a:extLst>
          </p:cNvPr>
          <p:cNvSpPr>
            <a:spLocks xmlns:a="http://schemas.openxmlformats.org/drawingml/2006/main" noGrp="1"/>
          </p:cNvSpPr>
          <p:nvPr/>
        </p:nvSpPr>
        <p:spPr>
          <a:xfrm xmlns:a="http://schemas.openxmlformats.org/drawingml/2006/main">
            <a:off x="4552950" y="5191125"/>
            <a:ext cx="1600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D3E2F6"/>
                </a:solidFill>
                <a:latin typeface="Arial"/>
                <a:ea typeface="Arial"/>
                <a:cs typeface="Arial"/>
              </a:defRPr>
            </a:defPPr>
          </a:lstStyle>
          <a:p xmlns:a="http://schemas.openxmlformats.org/drawingml/2006/main">
            <a:pPr algn="l">
              <a:lnSpc>
                <a:spcPct val="100000"/>
              </a:lnSpc>
              <a:buNone/>
              <a:defRPr sz="1275" b="0">
                <a:solidFill>
                  <a:srgbClr val="D3E2F6"/>
                </a:solidFill>
                <a:latin typeface="Arial"/>
                <a:ea typeface="Arial"/>
                <a:cs typeface="Arial"/>
              </a:defRPr>
            </a:pPr>
            <a:r>
              <a:rPr sz="1275" b="0">
                <a:solidFill>
                  <a:srgbClr val="D3E2F6"/>
                </a:solidFill>
                <a:latin typeface="Arial"/>
                <a:ea typeface="Arial"/>
                <a:cs typeface="Arial"/>
              </a:rPr>
              <a:t>Bukti klausul</a:t>
            </a:r>
          </a:p>
        </p:txBody>
      </p:sp>
      <p:sp>
        <p:nvSpPr>
          <p:cNvPr id="19" name="video-point-3">
            <a:extLst xmlns:a="http://schemas.openxmlformats.org/drawingml/2006/main">
              <a:ext uri="{FF2B5EF4-FFF2-40B4-BE49-F238E27FC236}">
                <a16:creationId xmlns:a16="http://schemas.microsoft.com/office/drawing/2014/main" id="{645BD987-36A9-411E-955C-F408CD427BD3}"/>
              </a:ext>
            </a:extLst>
          </p:cNvPr>
          <p:cNvSpPr>
            <a:spLocks xmlns:a="http://schemas.openxmlformats.org/drawingml/2006/main" noGrp="1"/>
          </p:cNvSpPr>
          <p:nvPr/>
        </p:nvSpPr>
        <p:spPr>
          <a:xfrm xmlns:a="http://schemas.openxmlformats.org/drawingml/2006/main">
            <a:off x="6829425" y="4572000"/>
            <a:ext cx="142875" cy="171450"/>
          </a:xfrm>
          <a:prstGeom xmlns:a="http://schemas.openxmlformats.org/drawingml/2006/main" prst="rect">
            <a:avLst/>
          </a:prstGeom>
          <a:solidFill xmlns:a="http://schemas.openxmlformats.org/drawingml/2006/main">
            <a:srgbClr val="33B1FF"/>
          </a:solidFill>
          <a:ln xmlns:a="http://schemas.openxmlformats.org/drawingml/2006/main" w="0">
            <a:noFill/>
            <a:prstDash val="solid"/>
          </a:ln>
        </p:spPr>
      </p:sp>
      <p:sp>
        <p:nvSpPr>
          <p:cNvPr id="20" name="video-time-3">
            <a:extLst xmlns:a="http://schemas.openxmlformats.org/drawingml/2006/main">
              <a:ext uri="{FF2B5EF4-FFF2-40B4-BE49-F238E27FC236}">
                <a16:creationId xmlns:a16="http://schemas.microsoft.com/office/drawing/2014/main" id="{21457760-1037-4D56-A2F4-A3A94110EE8C}"/>
              </a:ext>
            </a:extLst>
          </p:cNvPr>
          <p:cNvSpPr>
            <a:spLocks xmlns:a="http://schemas.openxmlformats.org/drawingml/2006/main" noGrp="1"/>
          </p:cNvSpPr>
          <p:nvPr/>
        </p:nvSpPr>
        <p:spPr>
          <a:xfrm xmlns:a="http://schemas.openxmlformats.org/drawingml/2006/main">
            <a:off x="6543675" y="4895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4:00</a:t>
            </a:r>
          </a:p>
        </p:txBody>
      </p:sp>
      <p:sp>
        <p:nvSpPr>
          <p:cNvPr id="21" name="video-label-3">
            <a:extLst xmlns:a="http://schemas.openxmlformats.org/drawingml/2006/main">
              <a:ext uri="{FF2B5EF4-FFF2-40B4-BE49-F238E27FC236}">
                <a16:creationId xmlns:a16="http://schemas.microsoft.com/office/drawing/2014/main" id="{9F2B6CA9-B518-4578-88BA-B32E94ABD875}"/>
              </a:ext>
            </a:extLst>
          </p:cNvPr>
          <p:cNvSpPr>
            <a:spLocks xmlns:a="http://schemas.openxmlformats.org/drawingml/2006/main" noGrp="1"/>
          </p:cNvSpPr>
          <p:nvPr/>
        </p:nvSpPr>
        <p:spPr>
          <a:xfrm xmlns:a="http://schemas.openxmlformats.org/drawingml/2006/main">
            <a:off x="6543675" y="5191125"/>
            <a:ext cx="1600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D3E2F6"/>
                </a:solidFill>
                <a:latin typeface="Arial"/>
                <a:ea typeface="Arial"/>
                <a:cs typeface="Arial"/>
              </a:defRPr>
            </a:defPPr>
          </a:lstStyle>
          <a:p xmlns:a="http://schemas.openxmlformats.org/drawingml/2006/main">
            <a:pPr algn="l">
              <a:lnSpc>
                <a:spcPct val="100000"/>
              </a:lnSpc>
              <a:buNone/>
              <a:defRPr sz="1275" b="0">
                <a:solidFill>
                  <a:srgbClr val="D3E2F6"/>
                </a:solidFill>
                <a:latin typeface="Arial"/>
                <a:ea typeface="Arial"/>
                <a:cs typeface="Arial"/>
              </a:defRPr>
            </a:pPr>
            <a:r>
              <a:rPr sz="1275" b="0">
                <a:solidFill>
                  <a:srgbClr val="D3E2F6"/>
                </a:solidFill>
                <a:latin typeface="Arial"/>
                <a:ea typeface="Arial"/>
                <a:cs typeface="Arial"/>
              </a:rPr>
              <a:t>Risiko kontrak</a:t>
            </a:r>
          </a:p>
        </p:txBody>
      </p:sp>
      <p:sp>
        <p:nvSpPr>
          <p:cNvPr id="22" name="video-point-4">
            <a:extLst xmlns:a="http://schemas.openxmlformats.org/drawingml/2006/main">
              <a:ext uri="{FF2B5EF4-FFF2-40B4-BE49-F238E27FC236}">
                <a16:creationId xmlns:a16="http://schemas.microsoft.com/office/drawing/2014/main" id="{7CBB33CA-B43F-48DE-8E0F-A8CABBE6A1A8}"/>
              </a:ext>
            </a:extLst>
          </p:cNvPr>
          <p:cNvSpPr>
            <a:spLocks xmlns:a="http://schemas.openxmlformats.org/drawingml/2006/main" noGrp="1"/>
          </p:cNvSpPr>
          <p:nvPr/>
        </p:nvSpPr>
        <p:spPr>
          <a:xfrm xmlns:a="http://schemas.openxmlformats.org/drawingml/2006/main">
            <a:off x="8820150" y="4572000"/>
            <a:ext cx="142875" cy="171450"/>
          </a:xfrm>
          <a:prstGeom xmlns:a="http://schemas.openxmlformats.org/drawingml/2006/main" prst="rect">
            <a:avLst/>
          </a:prstGeom>
          <a:solidFill xmlns:a="http://schemas.openxmlformats.org/drawingml/2006/main">
            <a:srgbClr val="33B1FF"/>
          </a:solidFill>
          <a:ln xmlns:a="http://schemas.openxmlformats.org/drawingml/2006/main" w="0">
            <a:noFill/>
            <a:prstDash val="solid"/>
          </a:ln>
        </p:spPr>
      </p:sp>
      <p:sp>
        <p:nvSpPr>
          <p:cNvPr id="23" name="video-time-4">
            <a:extLst xmlns:a="http://schemas.openxmlformats.org/drawingml/2006/main">
              <a:ext uri="{FF2B5EF4-FFF2-40B4-BE49-F238E27FC236}">
                <a16:creationId xmlns:a16="http://schemas.microsoft.com/office/drawing/2014/main" id="{B52862CF-6F1B-4D26-9586-8003A0D66418}"/>
              </a:ext>
            </a:extLst>
          </p:cNvPr>
          <p:cNvSpPr>
            <a:spLocks xmlns:a="http://schemas.openxmlformats.org/drawingml/2006/main" noGrp="1"/>
          </p:cNvSpPr>
          <p:nvPr/>
        </p:nvSpPr>
        <p:spPr>
          <a:xfrm xmlns:a="http://schemas.openxmlformats.org/drawingml/2006/main">
            <a:off x="8534400" y="4895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5:10</a:t>
            </a:r>
          </a:p>
        </p:txBody>
      </p:sp>
      <p:sp>
        <p:nvSpPr>
          <p:cNvPr id="24" name="video-label-4">
            <a:extLst xmlns:a="http://schemas.openxmlformats.org/drawingml/2006/main">
              <a:ext uri="{FF2B5EF4-FFF2-40B4-BE49-F238E27FC236}">
                <a16:creationId xmlns:a16="http://schemas.microsoft.com/office/drawing/2014/main" id="{22A9AF6B-6254-4C64-A146-7077CB906897}"/>
              </a:ext>
            </a:extLst>
          </p:cNvPr>
          <p:cNvSpPr>
            <a:spLocks xmlns:a="http://schemas.openxmlformats.org/drawingml/2006/main" noGrp="1"/>
          </p:cNvSpPr>
          <p:nvPr/>
        </p:nvSpPr>
        <p:spPr>
          <a:xfrm xmlns:a="http://schemas.openxmlformats.org/drawingml/2006/main">
            <a:off x="8534400" y="5191125"/>
            <a:ext cx="1600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D3E2F6"/>
                </a:solidFill>
                <a:latin typeface="Arial"/>
                <a:ea typeface="Arial"/>
                <a:cs typeface="Arial"/>
              </a:defRPr>
            </a:defPPr>
          </a:lstStyle>
          <a:p xmlns:a="http://schemas.openxmlformats.org/drawingml/2006/main">
            <a:pPr algn="l">
              <a:lnSpc>
                <a:spcPct val="100000"/>
              </a:lnSpc>
              <a:buNone/>
              <a:defRPr sz="1275" b="0">
                <a:solidFill>
                  <a:srgbClr val="D3E2F6"/>
                </a:solidFill>
                <a:latin typeface="Arial"/>
                <a:ea typeface="Arial"/>
                <a:cs typeface="Arial"/>
              </a:defRPr>
            </a:pPr>
            <a:r>
              <a:rPr sz="1275" b="0">
                <a:solidFill>
                  <a:srgbClr val="D3E2F6"/>
                </a:solidFill>
                <a:latin typeface="Arial"/>
                <a:ea typeface="Arial"/>
                <a:cs typeface="Arial"/>
              </a:rPr>
              <a:t>Log + status IBM</a:t>
            </a:r>
          </a:p>
        </p:txBody>
      </p:sp>
      <p:sp>
        <p:nvSpPr>
          <p:cNvPr id="25" name="video-point-5">
            <a:extLst xmlns:a="http://schemas.openxmlformats.org/drawingml/2006/main">
              <a:ext uri="{FF2B5EF4-FFF2-40B4-BE49-F238E27FC236}">
                <a16:creationId xmlns:a16="http://schemas.microsoft.com/office/drawing/2014/main" id="{5D2AC0E1-3301-4FB7-AA2D-15EB0E566481}"/>
              </a:ext>
            </a:extLst>
          </p:cNvPr>
          <p:cNvSpPr>
            <a:spLocks xmlns:a="http://schemas.openxmlformats.org/drawingml/2006/main" noGrp="1"/>
          </p:cNvSpPr>
          <p:nvPr/>
        </p:nvSpPr>
        <p:spPr>
          <a:xfrm xmlns:a="http://schemas.openxmlformats.org/drawingml/2006/main">
            <a:off x="10810875" y="4572000"/>
            <a:ext cx="142875" cy="171450"/>
          </a:xfrm>
          <a:prstGeom xmlns:a="http://schemas.openxmlformats.org/drawingml/2006/main" prst="rect">
            <a:avLst/>
          </a:prstGeom>
          <a:solidFill xmlns:a="http://schemas.openxmlformats.org/drawingml/2006/main">
            <a:srgbClr val="33B1FF"/>
          </a:solidFill>
          <a:ln xmlns:a="http://schemas.openxmlformats.org/drawingml/2006/main" w="0">
            <a:noFill/>
            <a:prstDash val="solid"/>
          </a:ln>
        </p:spPr>
      </p:sp>
      <p:sp>
        <p:nvSpPr>
          <p:cNvPr id="26" name="video-time-5">
            <a:extLst xmlns:a="http://schemas.openxmlformats.org/drawingml/2006/main">
              <a:ext uri="{FF2B5EF4-FFF2-40B4-BE49-F238E27FC236}">
                <a16:creationId xmlns:a16="http://schemas.microsoft.com/office/drawing/2014/main" id="{726D3149-8D20-40F3-AFBF-51C9D0B546D7}"/>
              </a:ext>
            </a:extLst>
          </p:cNvPr>
          <p:cNvSpPr>
            <a:spLocks xmlns:a="http://schemas.openxmlformats.org/drawingml/2006/main" noGrp="1"/>
          </p:cNvSpPr>
          <p:nvPr/>
        </p:nvSpPr>
        <p:spPr>
          <a:xfrm xmlns:a="http://schemas.openxmlformats.org/drawingml/2006/main">
            <a:off x="10525125" y="4895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6:10</a:t>
            </a:r>
          </a:p>
        </p:txBody>
      </p:sp>
      <p:sp>
        <p:nvSpPr>
          <p:cNvPr id="27" name="video-label-5">
            <a:extLst xmlns:a="http://schemas.openxmlformats.org/drawingml/2006/main">
              <a:ext uri="{FF2B5EF4-FFF2-40B4-BE49-F238E27FC236}">
                <a16:creationId xmlns:a16="http://schemas.microsoft.com/office/drawing/2014/main" id="{53202C0B-A401-4F7F-A6D8-E9F768EABDE4}"/>
              </a:ext>
            </a:extLst>
          </p:cNvPr>
          <p:cNvSpPr>
            <a:spLocks xmlns:a="http://schemas.openxmlformats.org/drawingml/2006/main" noGrp="1"/>
          </p:cNvSpPr>
          <p:nvPr/>
        </p:nvSpPr>
        <p:spPr>
          <a:xfrm xmlns:a="http://schemas.openxmlformats.org/drawingml/2006/main">
            <a:off x="10525125" y="5191125"/>
            <a:ext cx="1600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D3E2F6"/>
                </a:solidFill>
                <a:latin typeface="Arial"/>
                <a:ea typeface="Arial"/>
                <a:cs typeface="Arial"/>
              </a:defRPr>
            </a:defPPr>
          </a:lstStyle>
          <a:p xmlns:a="http://schemas.openxmlformats.org/drawingml/2006/main">
            <a:pPr algn="l">
              <a:lnSpc>
                <a:spcPct val="100000"/>
              </a:lnSpc>
              <a:buNone/>
              <a:defRPr sz="1275" b="0">
                <a:solidFill>
                  <a:srgbClr val="D3E2F6"/>
                </a:solidFill>
                <a:latin typeface="Arial"/>
                <a:ea typeface="Arial"/>
                <a:cs typeface="Arial"/>
              </a:defRPr>
            </a:pPr>
            <a:r>
              <a:rPr sz="1275" b="0">
                <a:solidFill>
                  <a:srgbClr val="D3E2F6"/>
                </a:solidFill>
                <a:latin typeface="Arial"/>
                <a:ea typeface="Arial"/>
                <a:cs typeface="Arial"/>
              </a:rPr>
              <a:t>Ajakan pilot</a:t>
            </a:r>
          </a:p>
        </p:txBody>
      </p:sp>
      <p:sp>
        <p:nvSpPr>
          <p:cNvPr id="28" name="page-number">
            <a:extLst xmlns:a="http://schemas.openxmlformats.org/drawingml/2006/main">
              <a:ext uri="{FF2B5EF4-FFF2-40B4-BE49-F238E27FC236}">
                <a16:creationId xmlns:a16="http://schemas.microsoft.com/office/drawing/2014/main" id="{AC6E9E6E-3EF9-4383-8D08-853FA51E80BC}"/>
              </a:ext>
            </a:extLst>
          </p:cNvPr>
          <p:cNvSpPr>
            <a:spLocks xmlns:a="http://schemas.openxmlformats.org/drawingml/2006/main" noGrp="1"/>
          </p:cNvSpPr>
          <p:nvPr/>
        </p:nvSpPr>
        <p:spPr>
          <a:xfrm xmlns:a="http://schemas.openxmlformats.org/drawingml/2006/main">
            <a:off x="10668000" y="64770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0">
                <a:solidFill>
                  <a:srgbClr val="9AAFC9"/>
                </a:solidFill>
                <a:latin typeface="Arial"/>
                <a:ea typeface="Arial"/>
                <a:cs typeface="Arial"/>
              </a:defRPr>
            </a:defPPr>
          </a:lstStyle>
          <a:p xmlns:a="http://schemas.openxmlformats.org/drawingml/2006/main">
            <a:pPr algn="r">
              <a:defRPr sz="975" b="0">
                <a:solidFill>
                  <a:srgbClr val="9AAFC9"/>
                </a:solidFill>
                <a:latin typeface="Arial"/>
                <a:ea typeface="Arial"/>
                <a:cs typeface="Arial"/>
              </a:defRPr>
            </a:pPr>
            <a:r>
              <a:rPr sz="975" b="0">
                <a:solidFill>
                  <a:srgbClr val="9AAFC9"/>
                </a:solidFill>
                <a:latin typeface="Arial"/>
                <a:ea typeface="Arial"/>
                <a:cs typeface="Arial"/>
              </a:rPr>
              <a:t>08 / 10</a:t>
            </a:r>
          </a:p>
        </p:txBody>
      </p:sp>
    </p:spTree>
    <p:extLst>
      <p:ext uri="{BB962C8B-B14F-4D97-AF65-F5344CB8AC3E}">
        <p14:creationId xmlns:p14="http://schemas.microsoft.com/office/powerpoint/2010/main" val="107604410"/>
      </p:ext>
    </p:extLst>
  </p:cSld>
</p:sld>
</file>

<file path=ppt/slides/slide9.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3" name="brand-mark">
            <a:extLst xmlns:a="http://schemas.openxmlformats.org/drawingml/2006/main">
              <a:ext uri="{FF2B5EF4-FFF2-40B4-BE49-F238E27FC236}">
                <a16:creationId xmlns:a16="http://schemas.microsoft.com/office/drawing/2014/main" id="{E4C1031C-CED6-4B85-969A-796440F46336}"/>
              </a:ext>
            </a:extLst>
          </p:cNvPr>
          <p:cNvSpPr>
            <a:spLocks xmlns:a="http://schemas.openxmlformats.org/drawingml/2006/main" noGrp="1"/>
          </p:cNvSpPr>
          <p:nvPr/>
        </p:nvSpPr>
        <p:spPr>
          <a:xfrm xmlns:a="http://schemas.openxmlformats.org/drawingml/2006/main">
            <a:off x="685800" y="371475"/>
            <a:ext cx="47625" cy="171450"/>
          </a:xfrm>
          <a:prstGeom xmlns:a="http://schemas.openxmlformats.org/drawingml/2006/main" prst="rect">
            <a:avLst/>
          </a:prstGeom>
          <a:solidFill xmlns:a="http://schemas.openxmlformats.org/drawingml/2006/main">
            <a:srgbClr val="0F62FE"/>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5D99181B-E8D4-4679-A551-0BBDCD483DA7}"/>
              </a:ext>
            </a:extLst>
          </p:cNvPr>
          <p:cNvSpPr>
            <a:spLocks xmlns:a="http://schemas.openxmlformats.org/drawingml/2006/main" noGrp="1"/>
          </p:cNvSpPr>
          <p:nvPr/>
        </p:nvSpPr>
        <p:spPr>
          <a:xfrm xmlns:a="http://schemas.openxmlformats.org/drawingml/2006/main">
            <a:off x="838200" y="361950"/>
            <a:ext cx="571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0F62FE"/>
                </a:solidFill>
                <a:latin typeface="Arial"/>
                <a:ea typeface="Arial"/>
                <a:cs typeface="Arial"/>
              </a:defRPr>
            </a:defPPr>
          </a:lstStyle>
          <a:p xmlns:a="http://schemas.openxmlformats.org/drawingml/2006/main">
            <a:pPr algn="l">
              <a:defRPr sz="1050" b="1">
                <a:solidFill>
                  <a:srgbClr val="0F62FE"/>
                </a:solidFill>
                <a:latin typeface="Arial"/>
                <a:ea typeface="Arial"/>
                <a:cs typeface="Arial"/>
              </a:defRPr>
            </a:pPr>
            <a:r>
              <a:rPr sz="1050" b="1">
                <a:solidFill>
                  <a:srgbClr val="0F62FE"/>
                </a:solidFill>
                <a:latin typeface="Arial"/>
                <a:ea typeface="Arial"/>
                <a:cs typeface="Arial"/>
              </a:rPr>
              <a:t>BIDSENTRY AI  /  IBM SKILLSBUILD 2026</a:t>
            </a:r>
          </a:p>
        </p:txBody>
      </p:sp>
      <p:sp>
        <p:nvSpPr>
          <p:cNvPr id="3" name="slide-title">
            <a:extLst xmlns:a="http://schemas.openxmlformats.org/drawingml/2006/main">
              <a:ext uri="{FF2B5EF4-FFF2-40B4-BE49-F238E27FC236}">
                <a16:creationId xmlns:a16="http://schemas.microsoft.com/office/drawing/2014/main" id="{517AB201-A29D-4FE9-A1CF-A7064BC1CBFB}"/>
              </a:ext>
            </a:extLst>
          </p:cNvPr>
          <p:cNvSpPr>
            <a:spLocks xmlns:a="http://schemas.openxmlformats.org/drawingml/2006/main" noGrp="1"/>
          </p:cNvSpPr>
          <p:nvPr/>
        </p:nvSpPr>
        <p:spPr>
          <a:xfrm xmlns:a="http://schemas.openxmlformats.org/drawingml/2006/main">
            <a:off x="685800" y="714375"/>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75" b="1">
                <a:solidFill>
                  <a:srgbClr val="0B1728"/>
                </a:solidFill>
                <a:latin typeface="Arial"/>
                <a:ea typeface="Arial"/>
                <a:cs typeface="Arial"/>
              </a:defRPr>
            </a:defPPr>
          </a:lstStyle>
          <a:p xmlns:a="http://schemas.openxmlformats.org/drawingml/2006/main">
            <a:pPr algn="l">
              <a:lnSpc>
                <a:spcPct val="96000"/>
              </a:lnSpc>
              <a:buNone/>
              <a:defRPr sz="3075" b="1">
                <a:solidFill>
                  <a:srgbClr val="0B1728"/>
                </a:solidFill>
                <a:latin typeface="Arial"/>
                <a:ea typeface="Arial"/>
                <a:cs typeface="Arial"/>
              </a:defRPr>
            </a:pPr>
            <a:r>
              <a:rPr sz="3075" b="1">
                <a:solidFill>
                  <a:srgbClr val="0B1728"/>
                </a:solidFill>
                <a:latin typeface="Arial"/>
                <a:ea typeface="Arial"/>
                <a:cs typeface="Arial"/>
              </a:rPr>
              <a:t>Impact dapat diuji dalam pilot terbatas</a:t>
            </a:r>
          </a:p>
        </p:txBody>
      </p:sp>
      <p:sp>
        <p:nvSpPr>
          <p:cNvPr id="4" name="key-takeaway">
            <a:extLst xmlns:a="http://schemas.openxmlformats.org/drawingml/2006/main">
              <a:ext uri="{FF2B5EF4-FFF2-40B4-BE49-F238E27FC236}">
                <a16:creationId xmlns:a16="http://schemas.microsoft.com/office/drawing/2014/main" id="{21D37605-A83F-46A9-A1D9-02EA1740BF56}"/>
              </a:ext>
            </a:extLst>
          </p:cNvPr>
          <p:cNvSpPr>
            <a:spLocks xmlns:a="http://schemas.openxmlformats.org/drawingml/2006/main" noGrp="1"/>
          </p:cNvSpPr>
          <p:nvPr/>
        </p:nvSpPr>
        <p:spPr>
          <a:xfrm xmlns:a="http://schemas.openxmlformats.org/drawingml/2006/main">
            <a:off x="685800" y="13144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2B4D"/>
                </a:solidFill>
                <a:latin typeface="Arial"/>
                <a:ea typeface="Arial"/>
                <a:cs typeface="Arial"/>
              </a:defRPr>
            </a:defPPr>
          </a:lstStyle>
          <a:p xmlns:a="http://schemas.openxmlformats.org/drawingml/2006/main">
            <a:pPr algn="l">
              <a:lnSpc>
                <a:spcPct val="100000"/>
              </a:lnSpc>
              <a:buNone/>
              <a:defRPr sz="1575" b="1">
                <a:solidFill>
                  <a:srgbClr val="172B4D"/>
                </a:solidFill>
                <a:latin typeface="Arial"/>
                <a:ea typeface="Arial"/>
                <a:cs typeface="Arial"/>
              </a:defRPr>
            </a:pPr>
            <a:r>
              <a:rPr sz="1575" b="1">
                <a:solidFill>
                  <a:srgbClr val="172B4D"/>
                </a:solidFill>
                <a:latin typeface="Arial"/>
                <a:ea typeface="Arial"/>
                <a:cs typeface="Arial"/>
              </a:rPr>
              <a:t>Manfaat yang diharapkan adalah menemukan gap lebih awal dan membuat review lebih terukur.</a:t>
            </a:r>
          </a:p>
        </p:txBody>
      </p:sp>
      <p:sp>
        <p:nvSpPr>
          <p:cNvPr id="5" name="page-number">
            <a:extLst xmlns:a="http://schemas.openxmlformats.org/drawingml/2006/main">
              <a:ext uri="{FF2B5EF4-FFF2-40B4-BE49-F238E27FC236}">
                <a16:creationId xmlns:a16="http://schemas.microsoft.com/office/drawing/2014/main" id="{A522CE1D-D35C-4B07-BDC5-F7C4EF6EF296}"/>
              </a:ext>
            </a:extLst>
          </p:cNvPr>
          <p:cNvSpPr>
            <a:spLocks xmlns:a="http://schemas.openxmlformats.org/drawingml/2006/main" noGrp="1"/>
          </p:cNvSpPr>
          <p:nvPr/>
        </p:nvSpPr>
        <p:spPr>
          <a:xfrm xmlns:a="http://schemas.openxmlformats.org/drawingml/2006/main">
            <a:off x="10668000" y="64770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0">
                <a:solidFill>
                  <a:srgbClr val="526178"/>
                </a:solidFill>
                <a:latin typeface="Arial"/>
                <a:ea typeface="Arial"/>
                <a:cs typeface="Arial"/>
              </a:defRPr>
            </a:defPPr>
          </a:lstStyle>
          <a:p xmlns:a="http://schemas.openxmlformats.org/drawingml/2006/main">
            <a:pPr algn="r">
              <a:defRPr sz="975" b="0">
                <a:solidFill>
                  <a:srgbClr val="526178"/>
                </a:solidFill>
                <a:latin typeface="Arial"/>
                <a:ea typeface="Arial"/>
                <a:cs typeface="Arial"/>
              </a:defRPr>
            </a:pPr>
            <a:r>
              <a:rPr sz="975" b="0">
                <a:solidFill>
                  <a:srgbClr val="526178"/>
                </a:solidFill>
                <a:latin typeface="Arial"/>
                <a:ea typeface="Arial"/>
                <a:cs typeface="Arial"/>
              </a:rPr>
              <a:t>09 / 10</a:t>
            </a:r>
          </a:p>
        </p:txBody>
      </p:sp>
      <p:sp>
        <p:nvSpPr>
          <p:cNvPr id="6" name="roadmap-heading-0">
            <a:extLst xmlns:a="http://schemas.openxmlformats.org/drawingml/2006/main">
              <a:ext uri="{FF2B5EF4-FFF2-40B4-BE49-F238E27FC236}">
                <a16:creationId xmlns:a16="http://schemas.microsoft.com/office/drawing/2014/main" id="{85AF7728-2771-48FE-8FBA-46729A7A155E}"/>
              </a:ext>
            </a:extLst>
          </p:cNvPr>
          <p:cNvSpPr>
            <a:spLocks xmlns:a="http://schemas.openxmlformats.org/drawingml/2006/main" noGrp="1"/>
          </p:cNvSpPr>
          <p:nvPr/>
        </p:nvSpPr>
        <p:spPr>
          <a:xfrm xmlns:a="http://schemas.openxmlformats.org/drawingml/2006/main">
            <a:off x="685800" y="2266950"/>
            <a:ext cx="3124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F62FE"/>
                </a:solidFill>
                <a:latin typeface="Arial"/>
                <a:ea typeface="Arial"/>
                <a:cs typeface="Arial"/>
              </a:defRPr>
            </a:defPPr>
          </a:lstStyle>
          <a:p xmlns:a="http://schemas.openxmlformats.org/drawingml/2006/main">
            <a:pPr algn="l">
              <a:defRPr sz="1125" b="1">
                <a:solidFill>
                  <a:srgbClr val="0F62FE"/>
                </a:solidFill>
                <a:latin typeface="Arial"/>
                <a:ea typeface="Arial"/>
                <a:cs typeface="Arial"/>
              </a:defRPr>
            </a:pPr>
            <a:r>
              <a:rPr sz="1125" b="1">
                <a:solidFill>
                  <a:srgbClr val="0F62FE"/>
                </a:solidFill>
                <a:latin typeface="Arial"/>
                <a:ea typeface="Arial"/>
                <a:cs typeface="Arial"/>
              </a:rPr>
              <a:t>DAMPAK YANG DIUJI</a:t>
            </a:r>
          </a:p>
        </p:txBody>
      </p:sp>
      <p:sp>
        <p:nvSpPr>
          <p:cNvPr id="7" name="roadmap-copy-0">
            <a:extLst xmlns:a="http://schemas.openxmlformats.org/drawingml/2006/main">
              <a:ext uri="{FF2B5EF4-FFF2-40B4-BE49-F238E27FC236}">
                <a16:creationId xmlns:a16="http://schemas.microsoft.com/office/drawing/2014/main" id="{6DB5E1FB-43E9-400F-88E3-269092856EDA}"/>
              </a:ext>
            </a:extLst>
          </p:cNvPr>
          <p:cNvSpPr>
            <a:spLocks xmlns:a="http://schemas.openxmlformats.org/drawingml/2006/main" noGrp="1"/>
          </p:cNvSpPr>
          <p:nvPr/>
        </p:nvSpPr>
        <p:spPr>
          <a:xfrm xmlns:a="http://schemas.openxmlformats.org/drawingml/2006/main">
            <a:off x="685800" y="2686050"/>
            <a:ext cx="31242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172B4D"/>
                </a:solidFill>
                <a:latin typeface="Arial"/>
                <a:ea typeface="Arial"/>
                <a:cs typeface="Arial"/>
              </a:defRPr>
            </a:defPPr>
          </a:lstStyle>
          <a:p xmlns:a="http://schemas.openxmlformats.org/drawingml/2006/main">
            <a:pPr algn="l">
              <a:lnSpc>
                <a:spcPct val="104000"/>
              </a:lnSpc>
              <a:buNone/>
              <a:defRPr sz="1500" b="0">
                <a:solidFill>
                  <a:srgbClr val="172B4D"/>
                </a:solidFill>
                <a:latin typeface="Arial"/>
                <a:ea typeface="Arial"/>
                <a:cs typeface="Arial"/>
              </a:defRPr>
            </a:pPr>
            <a:r>
              <a:rPr sz="1500" b="0">
                <a:solidFill>
                  <a:srgbClr val="172B4D"/>
                </a:solidFill>
                <a:latin typeface="Arial"/>
                <a:ea typeface="Arial"/>
                <a:cs typeface="Arial"/>
              </a:rPr>
              <a:t>Temukan gap sebelum submit.</a:t>
            </a:r>
          </a:p>
          <a:p xmlns:a="http://schemas.openxmlformats.org/drawingml/2006/main">
            <a:r>
              <a:t/>
            </a:r>
          </a:p>
          <a:p xmlns:a="http://schemas.openxmlformats.org/drawingml/2006/main">
            <a:pPr algn="l">
              <a:lnSpc>
                <a:spcPct val="104000"/>
              </a:lnSpc>
              <a:buNone/>
              <a:defRPr sz="1500" b="0">
                <a:solidFill>
                  <a:srgbClr val="172B4D"/>
                </a:solidFill>
                <a:latin typeface="Arial"/>
                <a:ea typeface="Arial"/>
                <a:cs typeface="Arial"/>
              </a:defRPr>
            </a:pPr>
            <a:r>
              <a:rPr sz="1500" b="0">
                <a:solidFill>
                  <a:srgbClr val="172B4D"/>
                </a:solidFill>
                <a:latin typeface="Arial"/>
                <a:ea typeface="Arial"/>
                <a:cs typeface="Arial"/>
              </a:rPr>
              <a:t>Tampilkan sinyal eksposur kontrak lebih awal.</a:t>
            </a:r>
          </a:p>
          <a:p xmlns:a="http://schemas.openxmlformats.org/drawingml/2006/main">
            <a:r>
              <a:t/>
            </a:r>
          </a:p>
          <a:p xmlns:a="http://schemas.openxmlformats.org/drawingml/2006/main">
            <a:pPr algn="l">
              <a:lnSpc>
                <a:spcPct val="104000"/>
              </a:lnSpc>
              <a:buNone/>
              <a:defRPr sz="1500" b="0">
                <a:solidFill>
                  <a:srgbClr val="172B4D"/>
                </a:solidFill>
                <a:latin typeface="Arial"/>
                <a:ea typeface="Arial"/>
                <a:cs typeface="Arial"/>
              </a:defRPr>
            </a:pPr>
            <a:r>
              <a:rPr sz="1500" b="0">
                <a:solidFill>
                  <a:srgbClr val="172B4D"/>
                </a:solidFill>
                <a:latin typeface="Arial"/>
                <a:ea typeface="Arial"/>
                <a:cs typeface="Arial"/>
              </a:rPr>
              <a:t>Simpan status dan bukti untuk tindak lanjut.</a:t>
            </a:r>
          </a:p>
          <a:p xmlns:a="http://schemas.openxmlformats.org/drawingml/2006/main">
            <a:r>
              <a:t/>
            </a:r>
          </a:p>
          <a:p xmlns:a="http://schemas.openxmlformats.org/drawingml/2006/main">
            <a:pPr algn="l">
              <a:lnSpc>
                <a:spcPct val="104000"/>
              </a:lnSpc>
              <a:buNone/>
              <a:defRPr sz="1500" b="0">
                <a:solidFill>
                  <a:srgbClr val="172B4D"/>
                </a:solidFill>
                <a:latin typeface="Arial"/>
                <a:ea typeface="Arial"/>
                <a:cs typeface="Arial"/>
              </a:defRPr>
            </a:pPr>
            <a:r>
              <a:rPr sz="1500" b="0">
                <a:solidFill>
                  <a:srgbClr val="172B4D"/>
                </a:solidFill>
                <a:latin typeface="Arial"/>
                <a:ea typeface="Arial"/>
                <a:cs typeface="Arial"/>
              </a:rPr>
              <a:t>Dampak belum diukur.</a:t>
            </a:r>
          </a:p>
        </p:txBody>
      </p:sp>
      <p:sp>
        <p:nvSpPr>
          <p:cNvPr id="8" name="roadmap-heading-1">
            <a:extLst xmlns:a="http://schemas.openxmlformats.org/drawingml/2006/main">
              <a:ext uri="{FF2B5EF4-FFF2-40B4-BE49-F238E27FC236}">
                <a16:creationId xmlns:a16="http://schemas.microsoft.com/office/drawing/2014/main" id="{B44AF3E2-C360-41B5-895E-EEAE90A0EF80}"/>
              </a:ext>
            </a:extLst>
          </p:cNvPr>
          <p:cNvSpPr>
            <a:spLocks xmlns:a="http://schemas.openxmlformats.org/drawingml/2006/main" noGrp="1"/>
          </p:cNvSpPr>
          <p:nvPr/>
        </p:nvSpPr>
        <p:spPr>
          <a:xfrm xmlns:a="http://schemas.openxmlformats.org/drawingml/2006/main">
            <a:off x="4343400" y="2266950"/>
            <a:ext cx="3124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198038"/>
                </a:solidFill>
                <a:latin typeface="Arial"/>
                <a:ea typeface="Arial"/>
                <a:cs typeface="Arial"/>
              </a:defRPr>
            </a:defPPr>
          </a:lstStyle>
          <a:p xmlns:a="http://schemas.openxmlformats.org/drawingml/2006/main">
            <a:pPr algn="l">
              <a:defRPr sz="1125" b="1">
                <a:solidFill>
                  <a:srgbClr val="198038"/>
                </a:solidFill>
                <a:latin typeface="Arial"/>
                <a:ea typeface="Arial"/>
                <a:cs typeface="Arial"/>
              </a:defRPr>
            </a:pPr>
            <a:r>
              <a:rPr sz="1125" b="1">
                <a:solidFill>
                  <a:srgbClr val="198038"/>
                </a:solidFill>
                <a:latin typeface="Arial"/>
                <a:ea typeface="Arial"/>
                <a:cs typeface="Arial"/>
              </a:rPr>
              <a:t>KELAYAKAN SAAT INI</a:t>
            </a:r>
          </a:p>
        </p:txBody>
      </p:sp>
      <p:sp>
        <p:nvSpPr>
          <p:cNvPr id="9" name="roadmap-copy-1">
            <a:extLst xmlns:a="http://schemas.openxmlformats.org/drawingml/2006/main">
              <a:ext uri="{FF2B5EF4-FFF2-40B4-BE49-F238E27FC236}">
                <a16:creationId xmlns:a16="http://schemas.microsoft.com/office/drawing/2014/main" id="{23DC1FF5-C941-464B-BCD1-3DCFF51D6B53}"/>
              </a:ext>
            </a:extLst>
          </p:cNvPr>
          <p:cNvSpPr>
            <a:spLocks xmlns:a="http://schemas.openxmlformats.org/drawingml/2006/main" noGrp="1"/>
          </p:cNvSpPr>
          <p:nvPr/>
        </p:nvSpPr>
        <p:spPr>
          <a:xfrm xmlns:a="http://schemas.openxmlformats.org/drawingml/2006/main">
            <a:off x="4343400" y="2686050"/>
            <a:ext cx="31242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172B4D"/>
                </a:solidFill>
                <a:latin typeface="Arial"/>
                <a:ea typeface="Arial"/>
                <a:cs typeface="Arial"/>
              </a:defRPr>
            </a:defPPr>
          </a:lstStyle>
          <a:p xmlns:a="http://schemas.openxmlformats.org/drawingml/2006/main">
            <a:pPr algn="l">
              <a:lnSpc>
                <a:spcPct val="104000"/>
              </a:lnSpc>
              <a:buNone/>
              <a:defRPr sz="1500" b="0">
                <a:solidFill>
                  <a:srgbClr val="172B4D"/>
                </a:solidFill>
                <a:latin typeface="Arial"/>
                <a:ea typeface="Arial"/>
                <a:cs typeface="Arial"/>
              </a:defRPr>
            </a:pPr>
            <a:r>
              <a:rPr sz="1500" b="0">
                <a:solidFill>
                  <a:srgbClr val="172B4D"/>
                </a:solidFill>
                <a:latin typeface="Arial"/>
                <a:ea typeface="Arial"/>
                <a:cs typeface="Arial"/>
              </a:rPr>
              <a:t>UI, bridge Python, parser lokal, dan audit log tersedia.</a:t>
            </a:r>
          </a:p>
          <a:p xmlns:a="http://schemas.openxmlformats.org/drawingml/2006/main">
            <a:r>
              <a:t/>
            </a:r>
          </a:p>
          <a:p xmlns:a="http://schemas.openxmlformats.org/drawingml/2006/main">
            <a:pPr algn="l">
              <a:lnSpc>
                <a:spcPct val="104000"/>
              </a:lnSpc>
              <a:buNone/>
              <a:defRPr sz="1500" b="0">
                <a:solidFill>
                  <a:srgbClr val="172B4D"/>
                </a:solidFill>
                <a:latin typeface="Arial"/>
                <a:ea typeface="Arial"/>
                <a:cs typeface="Arial"/>
              </a:defRPr>
            </a:pPr>
            <a:r>
              <a:rPr sz="1500" b="0">
                <a:solidFill>
                  <a:srgbClr val="172B4D"/>
                </a:solidFill>
                <a:latin typeface="Arial"/>
                <a:ea typeface="Arial"/>
                <a:cs typeface="Arial"/>
              </a:rPr>
              <a:t>Data contoh masih sintetis.</a:t>
            </a:r>
          </a:p>
          <a:p xmlns:a="http://schemas.openxmlformats.org/drawingml/2006/main">
            <a:r>
              <a:t/>
            </a:r>
          </a:p>
          <a:p xmlns:a="http://schemas.openxmlformats.org/drawingml/2006/main">
            <a:pPr algn="l">
              <a:lnSpc>
                <a:spcPct val="104000"/>
              </a:lnSpc>
              <a:buNone/>
              <a:defRPr sz="1500" b="0">
                <a:solidFill>
                  <a:srgbClr val="172B4D"/>
                </a:solidFill>
                <a:latin typeface="Arial"/>
                <a:ea typeface="Arial"/>
                <a:cs typeface="Arial"/>
              </a:defRPr>
            </a:pPr>
            <a:r>
              <a:rPr sz="1500" b="0">
                <a:solidFill>
                  <a:srgbClr val="172B4D"/>
                </a:solidFill>
                <a:latin typeface="Arial"/>
                <a:ea typeface="Arial"/>
                <a:cs typeface="Arial"/>
              </a:rPr>
              <a:t>Jalur Bob dan Langflow belum terverifikasi end-to-end.</a:t>
            </a:r>
          </a:p>
        </p:txBody>
      </p:sp>
      <p:sp>
        <p:nvSpPr>
          <p:cNvPr id="10" name="roadmap-heading-2">
            <a:extLst xmlns:a="http://schemas.openxmlformats.org/drawingml/2006/main">
              <a:ext uri="{FF2B5EF4-FFF2-40B4-BE49-F238E27FC236}">
                <a16:creationId xmlns:a16="http://schemas.microsoft.com/office/drawing/2014/main" id="{259DB114-2355-4E9A-8BDA-1F62F3FE9C78}"/>
              </a:ext>
            </a:extLst>
          </p:cNvPr>
          <p:cNvSpPr>
            <a:spLocks xmlns:a="http://schemas.openxmlformats.org/drawingml/2006/main" noGrp="1"/>
          </p:cNvSpPr>
          <p:nvPr/>
        </p:nvSpPr>
        <p:spPr>
          <a:xfrm xmlns:a="http://schemas.openxmlformats.org/drawingml/2006/main">
            <a:off x="8001000" y="2266950"/>
            <a:ext cx="3505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9F6B00"/>
                </a:solidFill>
                <a:latin typeface="Arial"/>
                <a:ea typeface="Arial"/>
                <a:cs typeface="Arial"/>
              </a:defRPr>
            </a:defPPr>
          </a:lstStyle>
          <a:p xmlns:a="http://schemas.openxmlformats.org/drawingml/2006/main">
            <a:pPr algn="l">
              <a:defRPr sz="1125" b="1">
                <a:solidFill>
                  <a:srgbClr val="9F6B00"/>
                </a:solidFill>
                <a:latin typeface="Arial"/>
                <a:ea typeface="Arial"/>
                <a:cs typeface="Arial"/>
              </a:defRPr>
            </a:pPr>
            <a:r>
              <a:rPr sz="1125" b="1">
                <a:solidFill>
                  <a:srgbClr val="9F6B00"/>
                </a:solidFill>
                <a:latin typeface="Arial"/>
                <a:ea typeface="Arial"/>
                <a:cs typeface="Arial"/>
              </a:rPr>
              <a:t>ROADMAP USULAN</a:t>
            </a:r>
          </a:p>
        </p:txBody>
      </p:sp>
      <p:sp>
        <p:nvSpPr>
          <p:cNvPr id="11" name="roadmap-copy-2">
            <a:extLst xmlns:a="http://schemas.openxmlformats.org/drawingml/2006/main">
              <a:ext uri="{FF2B5EF4-FFF2-40B4-BE49-F238E27FC236}">
                <a16:creationId xmlns:a16="http://schemas.microsoft.com/office/drawing/2014/main" id="{6A784137-59BC-4D16-BBC7-9F8DBE714805}"/>
              </a:ext>
            </a:extLst>
          </p:cNvPr>
          <p:cNvSpPr>
            <a:spLocks xmlns:a="http://schemas.openxmlformats.org/drawingml/2006/main" noGrp="1"/>
          </p:cNvSpPr>
          <p:nvPr/>
        </p:nvSpPr>
        <p:spPr>
          <a:xfrm xmlns:a="http://schemas.openxmlformats.org/drawingml/2006/main">
            <a:off x="8001000" y="2686050"/>
            <a:ext cx="35052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172B4D"/>
                </a:solidFill>
                <a:latin typeface="Arial"/>
                <a:ea typeface="Arial"/>
                <a:cs typeface="Arial"/>
              </a:defRPr>
            </a:defPPr>
          </a:lstStyle>
          <a:p xmlns:a="http://schemas.openxmlformats.org/drawingml/2006/main">
            <a:pPr algn="l">
              <a:lnSpc>
                <a:spcPct val="104000"/>
              </a:lnSpc>
              <a:buNone/>
              <a:defRPr sz="1500" b="0">
                <a:solidFill>
                  <a:srgbClr val="172B4D"/>
                </a:solidFill>
                <a:latin typeface="Arial"/>
                <a:ea typeface="Arial"/>
                <a:cs typeface="Arial"/>
              </a:defRPr>
            </a:pPr>
            <a:r>
              <a:rPr sz="1500" b="0">
                <a:solidFill>
                  <a:srgbClr val="172B4D"/>
                </a:solidFill>
                <a:latin typeface="Arial"/>
                <a:ea typeface="Arial"/>
                <a:cs typeface="Arial"/>
              </a:rPr>
              <a:t>0-30 hari</a:t>
            </a:r>
          </a:p>
          <a:p xmlns:a="http://schemas.openxmlformats.org/drawingml/2006/main">
            <a:pPr algn="l">
              <a:lnSpc>
                <a:spcPct val="104000"/>
              </a:lnSpc>
              <a:buNone/>
              <a:defRPr sz="1500" b="0">
                <a:solidFill>
                  <a:srgbClr val="172B4D"/>
                </a:solidFill>
                <a:latin typeface="Arial"/>
                <a:ea typeface="Arial"/>
                <a:cs typeface="Arial"/>
              </a:defRPr>
            </a:pPr>
            <a:r>
              <a:rPr sz="1500" b="0">
                <a:solidFill>
                  <a:srgbClr val="172B4D"/>
                </a:solidFill>
                <a:latin typeface="Arial"/>
                <a:ea typeface="Arial"/>
                <a:cs typeface="Arial"/>
              </a:rPr>
              <a:t>Uji 5 pengguna dengan 5-10 paket.</a:t>
            </a:r>
          </a:p>
          <a:p xmlns:a="http://schemas.openxmlformats.org/drawingml/2006/main">
            <a:r>
              <a:t/>
            </a:r>
          </a:p>
          <a:p xmlns:a="http://schemas.openxmlformats.org/drawingml/2006/main">
            <a:pPr algn="l">
              <a:lnSpc>
                <a:spcPct val="104000"/>
              </a:lnSpc>
              <a:buNone/>
              <a:defRPr sz="1500" b="0">
                <a:solidFill>
                  <a:srgbClr val="172B4D"/>
                </a:solidFill>
                <a:latin typeface="Arial"/>
                <a:ea typeface="Arial"/>
                <a:cs typeface="Arial"/>
              </a:defRPr>
            </a:pPr>
            <a:r>
              <a:rPr sz="1500" b="0">
                <a:solidFill>
                  <a:srgbClr val="172B4D"/>
                </a:solidFill>
                <a:latin typeface="Arial"/>
                <a:ea typeface="Arial"/>
                <a:cs typeface="Arial"/>
              </a:rPr>
              <a:t>31-60 hari</a:t>
            </a:r>
          </a:p>
          <a:p xmlns:a="http://schemas.openxmlformats.org/drawingml/2006/main">
            <a:pPr algn="l">
              <a:lnSpc>
                <a:spcPct val="104000"/>
              </a:lnSpc>
              <a:buNone/>
              <a:defRPr sz="1500" b="0">
                <a:solidFill>
                  <a:srgbClr val="172B4D"/>
                </a:solidFill>
                <a:latin typeface="Arial"/>
                <a:ea typeface="Arial"/>
                <a:cs typeface="Arial"/>
              </a:defRPr>
            </a:pPr>
            <a:r>
              <a:rPr sz="1500" b="0">
                <a:solidFill>
                  <a:srgbClr val="172B4D"/>
                </a:solidFill>
                <a:latin typeface="Arial"/>
                <a:ea typeface="Arial"/>
                <a:cs typeface="Arial"/>
              </a:rPr>
              <a:t>Demo Bob-Langflow MCP dan dokumentasi guardrail.</a:t>
            </a:r>
          </a:p>
          <a:p xmlns:a="http://schemas.openxmlformats.org/drawingml/2006/main">
            <a:r>
              <a:t/>
            </a:r>
          </a:p>
          <a:p xmlns:a="http://schemas.openxmlformats.org/drawingml/2006/main">
            <a:pPr algn="l">
              <a:lnSpc>
                <a:spcPct val="104000"/>
              </a:lnSpc>
              <a:buNone/>
              <a:defRPr sz="1500" b="0">
                <a:solidFill>
                  <a:srgbClr val="172B4D"/>
                </a:solidFill>
                <a:latin typeface="Arial"/>
                <a:ea typeface="Arial"/>
                <a:cs typeface="Arial"/>
              </a:defRPr>
            </a:pPr>
            <a:r>
              <a:rPr sz="1500" b="0">
                <a:solidFill>
                  <a:srgbClr val="172B4D"/>
                </a:solidFill>
                <a:latin typeface="Arial"/>
                <a:ea typeface="Arial"/>
                <a:cs typeface="Arial"/>
              </a:rPr>
              <a:t>61-90 hari</a:t>
            </a:r>
          </a:p>
          <a:p xmlns:a="http://schemas.openxmlformats.org/drawingml/2006/main">
            <a:pPr algn="l">
              <a:lnSpc>
                <a:spcPct val="104000"/>
              </a:lnSpc>
              <a:buNone/>
              <a:defRPr sz="1500" b="0">
                <a:solidFill>
                  <a:srgbClr val="172B4D"/>
                </a:solidFill>
                <a:latin typeface="Arial"/>
                <a:ea typeface="Arial"/>
                <a:cs typeface="Arial"/>
              </a:defRPr>
            </a:pPr>
            <a:r>
              <a:rPr sz="1500" b="0">
                <a:solidFill>
                  <a:srgbClr val="172B4D"/>
                </a:solidFill>
                <a:latin typeface="Arial"/>
                <a:ea typeface="Arial"/>
                <a:cs typeface="Arial"/>
              </a:rPr>
              <a:t>Pilot terawasi setelah review legal dan keamanan.</a:t>
            </a:r>
          </a:p>
        </p:txBody>
      </p:sp>
      <p:sp>
        <p:nvSpPr>
          <p:cNvPr id="12" name="roadmap-note">
            <a:extLst xmlns:a="http://schemas.openxmlformats.org/drawingml/2006/main">
              <a:ext uri="{FF2B5EF4-FFF2-40B4-BE49-F238E27FC236}">
                <a16:creationId xmlns:a16="http://schemas.microsoft.com/office/drawing/2014/main" id="{C9BFDA42-8280-4BC3-91C9-9478F6C9837E}"/>
              </a:ext>
            </a:extLst>
          </p:cNvPr>
          <p:cNvSpPr>
            <a:spLocks xmlns:a="http://schemas.openxmlformats.org/drawingml/2006/main" noGrp="1"/>
          </p:cNvSpPr>
          <p:nvPr/>
        </p:nvSpPr>
        <p:spPr>
          <a:xfrm xmlns:a="http://schemas.openxmlformats.org/drawingml/2006/main">
            <a:off x="685800" y="59626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526178"/>
                </a:solidFill>
                <a:latin typeface="Arial"/>
                <a:ea typeface="Arial"/>
                <a:cs typeface="Arial"/>
              </a:defRPr>
            </a:defPPr>
          </a:lstStyle>
          <a:p xmlns:a="http://schemas.openxmlformats.org/drawingml/2006/main">
            <a:pPr algn="l">
              <a:defRPr sz="1200" b="0">
                <a:solidFill>
                  <a:srgbClr val="526178"/>
                </a:solidFill>
                <a:latin typeface="Arial"/>
                <a:ea typeface="Arial"/>
                <a:cs typeface="Arial"/>
              </a:defRPr>
            </a:pPr>
            <a:r>
              <a:rPr sz="1200" b="0">
                <a:solidFill>
                  <a:srgbClr val="526178"/>
                </a:solidFill>
                <a:latin typeface="Arial"/>
                <a:ea typeface="Arial"/>
                <a:cs typeface="Arial"/>
              </a:rPr>
              <a:t>Target pengguna dan jumlah paket adalah usulan pilot, bukan hasil yang sudah dicapai.</a:t>
            </a:r>
          </a:p>
        </p:txBody>
      </p:sp>
    </p:spTree>
    <p:extLst>
      <p:ext uri="{BB962C8B-B14F-4D97-AF65-F5344CB8AC3E}">
        <p14:creationId xmlns:p14="http://schemas.microsoft.com/office/powerpoint/2010/main" val="1621305438"/>
      </p:ext>
    </p:extLst>
  </p:cSld>
</p:sld>
</file>

<file path=ppt/slides/slide10.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2" name="closing-blue-rule">
            <a:extLst xmlns:a="http://schemas.openxmlformats.org/drawingml/2006/main">
              <a:ext uri="{FF2B5EF4-FFF2-40B4-BE49-F238E27FC236}">
                <a16:creationId xmlns:a16="http://schemas.microsoft.com/office/drawing/2014/main" id="{B7A583FA-046C-43A9-8C1D-22853C166006}"/>
              </a:ext>
            </a:extLst>
          </p:cNvPr>
          <p:cNvSpPr>
            <a:spLocks xmlns:a="http://schemas.openxmlformats.org/drawingml/2006/main" noGrp="1"/>
          </p:cNvSpPr>
          <p:nvPr/>
        </p:nvSpPr>
        <p:spPr>
          <a:xfrm xmlns:a="http://schemas.openxmlformats.org/drawingml/2006/main">
            <a:off x="685800" y="857250"/>
            <a:ext cx="76200" cy="876300"/>
          </a:xfrm>
          <a:prstGeom xmlns:a="http://schemas.openxmlformats.org/drawingml/2006/main" prst="rect">
            <a:avLst/>
          </a:prstGeom>
          <a:solidFill xmlns:a="http://schemas.openxmlformats.org/drawingml/2006/main">
            <a:srgbClr val="0F62FE"/>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B1360694-7FBB-4C6E-84E6-69F1B9C4E445}"/>
              </a:ext>
            </a:extLst>
          </p:cNvPr>
          <p:cNvSpPr>
            <a:spLocks xmlns:a="http://schemas.openxmlformats.org/drawingml/2006/main" noGrp="1"/>
          </p:cNvSpPr>
          <p:nvPr/>
        </p:nvSpPr>
        <p:spPr>
          <a:xfrm xmlns:a="http://schemas.openxmlformats.org/drawingml/2006/main">
            <a:off x="990600" y="8763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IBM SKILLSBUILD 2026  /  TRACK IBM</a:t>
            </a:r>
          </a:p>
        </p:txBody>
      </p:sp>
      <p:sp>
        <p:nvSpPr>
          <p:cNvPr id="3" name="closing-title">
            <a:extLst xmlns:a="http://schemas.openxmlformats.org/drawingml/2006/main">
              <a:ext uri="{FF2B5EF4-FFF2-40B4-BE49-F238E27FC236}">
                <a16:creationId xmlns:a16="http://schemas.microsoft.com/office/drawing/2014/main" id="{CBA6D1EB-A2D3-4614-8BC4-89FD9C5AF6D6}"/>
              </a:ext>
            </a:extLst>
          </p:cNvPr>
          <p:cNvSpPr>
            <a:spLocks xmlns:a="http://schemas.openxmlformats.org/drawingml/2006/main" noGrp="1"/>
          </p:cNvSpPr>
          <p:nvPr/>
        </p:nvSpPr>
        <p:spPr>
          <a:xfrm xmlns:a="http://schemas.openxmlformats.org/drawingml/2006/main">
            <a:off x="990600" y="1409700"/>
            <a:ext cx="1000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4200" b="1">
                <a:solidFill>
                  <a:srgbClr val="0B1728"/>
                </a:solidFill>
                <a:latin typeface="Arial"/>
                <a:ea typeface="Arial"/>
                <a:cs typeface="Arial"/>
              </a:defRPr>
            </a:defPPr>
          </a:lstStyle>
          <a:p xmlns:a="http://schemas.openxmlformats.org/drawingml/2006/main">
            <a:pPr algn="l">
              <a:defRPr sz="4200" b="1">
                <a:solidFill>
                  <a:srgbClr val="0B1728"/>
                </a:solidFill>
                <a:latin typeface="Arial"/>
                <a:ea typeface="Arial"/>
                <a:cs typeface="Arial"/>
              </a:defRPr>
            </a:pPr>
            <a:r>
              <a:rPr sz="4200" b="1">
                <a:solidFill>
                  <a:srgbClr val="0B1728"/>
                </a:solidFill>
                <a:latin typeface="Arial"/>
                <a:ea typeface="Arial"/>
                <a:cs typeface="Arial"/>
              </a:rPr>
              <a:t>Tim BidSentry AI</a:t>
            </a:r>
          </a:p>
        </p:txBody>
      </p:sp>
      <p:sp>
        <p:nvSpPr>
          <p:cNvPr id="4" name="closing-focus">
            <a:extLst xmlns:a="http://schemas.openxmlformats.org/drawingml/2006/main">
              <a:ext uri="{FF2B5EF4-FFF2-40B4-BE49-F238E27FC236}">
                <a16:creationId xmlns:a16="http://schemas.microsoft.com/office/drawing/2014/main" id="{E3DC172B-538A-4CEE-9EDC-751C23994386}"/>
              </a:ext>
            </a:extLst>
          </p:cNvPr>
          <p:cNvSpPr>
            <a:spLocks xmlns:a="http://schemas.openxmlformats.org/drawingml/2006/main" noGrp="1"/>
          </p:cNvSpPr>
          <p:nvPr/>
        </p:nvSpPr>
        <p:spPr>
          <a:xfrm xmlns:a="http://schemas.openxmlformats.org/drawingml/2006/main">
            <a:off x="990600" y="2619375"/>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0F62FE"/>
                </a:solidFill>
                <a:latin typeface="Arial"/>
                <a:ea typeface="Arial"/>
                <a:cs typeface="Arial"/>
              </a:defRPr>
            </a:defPPr>
          </a:lstStyle>
          <a:p xmlns:a="http://schemas.openxmlformats.org/drawingml/2006/main">
            <a:pPr algn="l">
              <a:defRPr sz="1275" b="1">
                <a:solidFill>
                  <a:srgbClr val="0F62FE"/>
                </a:solidFill>
                <a:latin typeface="Arial"/>
                <a:ea typeface="Arial"/>
                <a:cs typeface="Arial"/>
              </a:defRPr>
            </a:pPr>
            <a:r>
              <a:rPr sz="1275" b="1">
                <a:solidFill>
                  <a:srgbClr val="0F62FE"/>
                </a:solidFill>
                <a:latin typeface="Arial"/>
                <a:ea typeface="Arial"/>
                <a:cs typeface="Arial"/>
              </a:rPr>
              <a:t>Fokus</a:t>
            </a:r>
          </a:p>
        </p:txBody>
      </p:sp>
      <p:sp>
        <p:nvSpPr>
          <p:cNvPr id="5" name="closing-focus-copy">
            <a:extLst xmlns:a="http://schemas.openxmlformats.org/drawingml/2006/main">
              <a:ext uri="{FF2B5EF4-FFF2-40B4-BE49-F238E27FC236}">
                <a16:creationId xmlns:a16="http://schemas.microsoft.com/office/drawing/2014/main" id="{DC9DD05C-3130-42D9-BA46-8ED46980FB13}"/>
              </a:ext>
            </a:extLst>
          </p:cNvPr>
          <p:cNvSpPr>
            <a:spLocks xmlns:a="http://schemas.openxmlformats.org/drawingml/2006/main" noGrp="1"/>
          </p:cNvSpPr>
          <p:nvPr/>
        </p:nvSpPr>
        <p:spPr>
          <a:xfrm xmlns:a="http://schemas.openxmlformats.org/drawingml/2006/main">
            <a:off x="990600" y="2952750"/>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2B4D"/>
                </a:solidFill>
                <a:latin typeface="Arial"/>
                <a:ea typeface="Arial"/>
                <a:cs typeface="Arial"/>
              </a:defRPr>
            </a:defPPr>
          </a:lstStyle>
          <a:p xmlns:a="http://schemas.openxmlformats.org/drawingml/2006/main">
            <a:pPr algn="l">
              <a:defRPr sz="1725" b="1">
                <a:solidFill>
                  <a:srgbClr val="172B4D"/>
                </a:solidFill>
                <a:latin typeface="Arial"/>
                <a:ea typeface="Arial"/>
                <a:cs typeface="Arial"/>
              </a:defRPr>
            </a:pPr>
            <a:r>
              <a:rPr sz="1725" b="1">
                <a:solidFill>
                  <a:srgbClr val="172B4D"/>
                </a:solidFill>
                <a:latin typeface="Arial"/>
                <a:ea typeface="Arial"/>
                <a:cs typeface="Arial"/>
              </a:rPr>
              <a:t>Audit kepatuhan tender Indonesia dan risk triage kontrak.</a:t>
            </a:r>
          </a:p>
        </p:txBody>
      </p:sp>
      <p:sp>
        <p:nvSpPr>
          <p:cNvPr id="6" name="closing-profile">
            <a:extLst xmlns:a="http://schemas.openxmlformats.org/drawingml/2006/main">
              <a:ext uri="{FF2B5EF4-FFF2-40B4-BE49-F238E27FC236}">
                <a16:creationId xmlns:a16="http://schemas.microsoft.com/office/drawing/2014/main" id="{33FACF3B-95F7-4B6E-979C-D732D35F605B}"/>
              </a:ext>
            </a:extLst>
          </p:cNvPr>
          <p:cNvSpPr>
            <a:spLocks xmlns:a="http://schemas.openxmlformats.org/drawingml/2006/main" noGrp="1"/>
          </p:cNvSpPr>
          <p:nvPr/>
        </p:nvSpPr>
        <p:spPr>
          <a:xfrm xmlns:a="http://schemas.openxmlformats.org/drawingml/2006/main">
            <a:off x="6572250" y="261937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0F62FE"/>
                </a:solidFill>
                <a:latin typeface="Arial"/>
                <a:ea typeface="Arial"/>
                <a:cs typeface="Arial"/>
              </a:defRPr>
            </a:defPPr>
          </a:lstStyle>
          <a:p xmlns:a="http://schemas.openxmlformats.org/drawingml/2006/main">
            <a:pPr algn="l">
              <a:defRPr sz="1275" b="1">
                <a:solidFill>
                  <a:srgbClr val="0F62FE"/>
                </a:solidFill>
                <a:latin typeface="Arial"/>
                <a:ea typeface="Arial"/>
                <a:cs typeface="Arial"/>
              </a:defRPr>
            </a:pPr>
            <a:r>
              <a:rPr sz="1275" b="1">
                <a:solidFill>
                  <a:srgbClr val="0F62FE"/>
                </a:solidFill>
                <a:latin typeface="Arial"/>
                <a:ea typeface="Arial"/>
                <a:cs typeface="Arial"/>
              </a:rPr>
              <a:t>Profil yang terlihat di repo</a:t>
            </a:r>
          </a:p>
        </p:txBody>
      </p:sp>
      <p:sp>
        <p:nvSpPr>
          <p:cNvPr id="7" name="closing-profile-copy">
            <a:extLst xmlns:a="http://schemas.openxmlformats.org/drawingml/2006/main">
              <a:ext uri="{FF2B5EF4-FFF2-40B4-BE49-F238E27FC236}">
                <a16:creationId xmlns:a16="http://schemas.microsoft.com/office/drawing/2014/main" id="{3FEB5D90-4C0F-44D6-8600-110DC8036F67}"/>
              </a:ext>
            </a:extLst>
          </p:cNvPr>
          <p:cNvSpPr>
            <a:spLocks xmlns:a="http://schemas.openxmlformats.org/drawingml/2006/main" noGrp="1"/>
          </p:cNvSpPr>
          <p:nvPr/>
        </p:nvSpPr>
        <p:spPr>
          <a:xfrm xmlns:a="http://schemas.openxmlformats.org/drawingml/2006/main">
            <a:off x="6572250" y="2952750"/>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172B4D"/>
                </a:solidFill>
                <a:latin typeface="Arial"/>
                <a:ea typeface="Arial"/>
                <a:cs typeface="Arial"/>
              </a:defRPr>
            </a:defPPr>
          </a:lstStyle>
          <a:p xmlns:a="http://schemas.openxmlformats.org/drawingml/2006/main">
            <a:pPr algn="l">
              <a:lnSpc>
                <a:spcPct val="108000"/>
              </a:lnSpc>
              <a:buNone/>
              <a:defRPr sz="1575" b="0">
                <a:solidFill>
                  <a:srgbClr val="172B4D"/>
                </a:solidFill>
                <a:latin typeface="Arial"/>
                <a:ea typeface="Arial"/>
                <a:cs typeface="Arial"/>
              </a:defRPr>
            </a:pPr>
            <a:r>
              <a:rPr sz="1575" b="0">
                <a:solidFill>
                  <a:srgbClr val="172B4D"/>
                </a:solidFill>
                <a:latin typeface="Arial"/>
                <a:ea typeface="Arial"/>
                <a:cs typeface="Arial"/>
              </a:rPr>
              <a:t>Dashboard frontend · Python audit bridge · rules engine lokal · konfigurasi MCP untuk Langflow.</a:t>
            </a:r>
          </a:p>
        </p:txBody>
      </p:sp>
      <p:sp>
        <p:nvSpPr>
          <p:cNvPr id="8" name="closing-roster">
            <a:extLst xmlns:a="http://schemas.openxmlformats.org/drawingml/2006/main">
              <a:ext uri="{FF2B5EF4-FFF2-40B4-BE49-F238E27FC236}">
                <a16:creationId xmlns:a16="http://schemas.microsoft.com/office/drawing/2014/main" id="{D7D1F4F3-976F-4FAA-8E5E-DB69E2BA6B5B}"/>
              </a:ext>
            </a:extLst>
          </p:cNvPr>
          <p:cNvSpPr>
            <a:spLocks xmlns:a="http://schemas.openxmlformats.org/drawingml/2006/main" noGrp="1"/>
          </p:cNvSpPr>
          <p:nvPr/>
        </p:nvSpPr>
        <p:spPr>
          <a:xfrm xmlns:a="http://schemas.openxmlformats.org/drawingml/2006/main">
            <a:off x="990600" y="40576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26178"/>
                </a:solidFill>
                <a:latin typeface="Arial"/>
                <a:ea typeface="Arial"/>
                <a:cs typeface="Arial"/>
              </a:defRPr>
            </a:defPPr>
          </a:lstStyle>
          <a:p xmlns:a="http://schemas.openxmlformats.org/drawingml/2006/main">
            <a:pPr algn="l">
              <a:defRPr sz="1350" b="0">
                <a:solidFill>
                  <a:srgbClr val="526178"/>
                </a:solidFill>
                <a:latin typeface="Arial"/>
                <a:ea typeface="Arial"/>
                <a:cs typeface="Arial"/>
              </a:defRPr>
            </a:pPr>
            <a:r>
              <a:rPr sz="1350" b="0">
                <a:solidFill>
                  <a:srgbClr val="526178"/>
                </a:solidFill>
                <a:latin typeface="Arial"/>
                <a:ea typeface="Arial"/>
                <a:cs typeface="Arial"/>
              </a:rPr>
              <a:t>Nama anggota individu belum tercantum di repo. Tim tampil dengan nama BidSentry AI.</a:t>
            </a:r>
          </a:p>
        </p:txBody>
      </p:sp>
      <p:sp>
        <p:nvSpPr>
          <p:cNvPr id="9" name="closing-divider">
            <a:extLst xmlns:a="http://schemas.openxmlformats.org/drawingml/2006/main">
              <a:ext uri="{FF2B5EF4-FFF2-40B4-BE49-F238E27FC236}">
                <a16:creationId xmlns:a16="http://schemas.microsoft.com/office/drawing/2014/main" id="{5E12CD95-8A8A-49A4-9EE5-E595D44F9F62}"/>
              </a:ext>
            </a:extLst>
          </p:cNvPr>
          <p:cNvSpPr>
            <a:spLocks xmlns:a="http://schemas.openxmlformats.org/drawingml/2006/main" noGrp="1"/>
          </p:cNvSpPr>
          <p:nvPr/>
        </p:nvSpPr>
        <p:spPr>
          <a:xfrm xmlns:a="http://schemas.openxmlformats.org/drawingml/2006/main">
            <a:off x="990600" y="4762500"/>
            <a:ext cx="1021080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10" name="closing-ask">
            <a:extLst xmlns:a="http://schemas.openxmlformats.org/drawingml/2006/main">
              <a:ext uri="{FF2B5EF4-FFF2-40B4-BE49-F238E27FC236}">
                <a16:creationId xmlns:a16="http://schemas.microsoft.com/office/drawing/2014/main" id="{83DEA588-13FE-44B0-B25D-1CA2D279985A}"/>
              </a:ext>
            </a:extLst>
          </p:cNvPr>
          <p:cNvSpPr>
            <a:spLocks xmlns:a="http://schemas.openxmlformats.org/drawingml/2006/main" noGrp="1"/>
          </p:cNvSpPr>
          <p:nvPr/>
        </p:nvSpPr>
        <p:spPr>
          <a:xfrm xmlns:a="http://schemas.openxmlformats.org/drawingml/2006/main">
            <a:off x="990600" y="5143500"/>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1">
                <a:solidFill>
                  <a:srgbClr val="0F62FE"/>
                </a:solidFill>
                <a:latin typeface="Arial"/>
                <a:ea typeface="Arial"/>
                <a:cs typeface="Arial"/>
              </a:defRPr>
            </a:defPPr>
          </a:lstStyle>
          <a:p xmlns:a="http://schemas.openxmlformats.org/drawingml/2006/main">
            <a:pPr algn="l">
              <a:lnSpc>
                <a:spcPct val="100000"/>
              </a:lnSpc>
              <a:buNone/>
              <a:defRPr sz="2100" b="1">
                <a:solidFill>
                  <a:srgbClr val="0F62FE"/>
                </a:solidFill>
                <a:latin typeface="Arial"/>
                <a:ea typeface="Arial"/>
                <a:cs typeface="Arial"/>
              </a:defRPr>
            </a:pPr>
            <a:r>
              <a:rPr sz="2100" b="1">
                <a:solidFill>
                  <a:srgbClr val="0F62FE"/>
                </a:solidFill>
                <a:latin typeface="Arial"/>
                <a:ea typeface="Arial"/>
                <a:cs typeface="Arial"/>
              </a:rPr>
              <a:t>Kami mencari arahan untuk validasi pengguna, batas sinyal fraud, dan pilot pertama.</a:t>
            </a:r>
          </a:p>
        </p:txBody>
      </p:sp>
      <p:sp>
        <p:nvSpPr>
          <p:cNvPr id="11" name="page-number">
            <a:extLst xmlns:a="http://schemas.openxmlformats.org/drawingml/2006/main">
              <a:ext uri="{FF2B5EF4-FFF2-40B4-BE49-F238E27FC236}">
                <a16:creationId xmlns:a16="http://schemas.microsoft.com/office/drawing/2014/main" id="{1CBDF08F-5B1C-476F-8295-9E8C26CFC82C}"/>
              </a:ext>
            </a:extLst>
          </p:cNvPr>
          <p:cNvSpPr>
            <a:spLocks xmlns:a="http://schemas.openxmlformats.org/drawingml/2006/main" noGrp="1"/>
          </p:cNvSpPr>
          <p:nvPr/>
        </p:nvSpPr>
        <p:spPr>
          <a:xfrm xmlns:a="http://schemas.openxmlformats.org/drawingml/2006/main">
            <a:off x="10668000" y="64770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0">
                <a:solidFill>
                  <a:srgbClr val="526178"/>
                </a:solidFill>
                <a:latin typeface="Arial"/>
                <a:ea typeface="Arial"/>
                <a:cs typeface="Arial"/>
              </a:defRPr>
            </a:defPPr>
          </a:lstStyle>
          <a:p xmlns:a="http://schemas.openxmlformats.org/drawingml/2006/main">
            <a:pPr algn="r">
              <a:defRPr sz="975" b="0">
                <a:solidFill>
                  <a:srgbClr val="526178"/>
                </a:solidFill>
                <a:latin typeface="Arial"/>
                <a:ea typeface="Arial"/>
                <a:cs typeface="Arial"/>
              </a:defRPr>
            </a:pPr>
            <a:r>
              <a:rPr sz="975" b="0">
                <a:solidFill>
                  <a:srgbClr val="526178"/>
                </a:solidFill>
                <a:latin typeface="Arial"/>
                <a:ea typeface="Arial"/>
                <a:cs typeface="Arial"/>
              </a:rPr>
              <a:t>10 / 10</a:t>
            </a:r>
          </a:p>
        </p:txBody>
      </p:sp>
    </p:spTree>
    <p:extLst>
      <p:ext uri="{BB962C8B-B14F-4D97-AF65-F5344CB8AC3E}">
        <p14:creationId xmlns:p14="http://schemas.microsoft.com/office/powerpoint/2010/main" val="1170566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2026-10-21T10:38:43.9750000Z</dcterms:created>
  <dcterms:modified xsi:type="dcterms:W3CDTF">2026-10-21T10:38:43.9750000Z</dcterms:modified>
</coreProperties>
</file>